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335" r:id="rId5"/>
    <p:sldId id="349" r:id="rId6"/>
    <p:sldId id="350" r:id="rId7"/>
    <p:sldId id="354" r:id="rId8"/>
    <p:sldId id="357" r:id="rId9"/>
    <p:sldId id="369" r:id="rId10"/>
    <p:sldId id="356" r:id="rId11"/>
    <p:sldId id="348" r:id="rId12"/>
    <p:sldId id="373" r:id="rId13"/>
    <p:sldId id="374" r:id="rId14"/>
    <p:sldId id="376" r:id="rId15"/>
    <p:sldId id="377" r:id="rId16"/>
    <p:sldId id="378" r:id="rId17"/>
    <p:sldId id="382" r:id="rId18"/>
    <p:sldId id="381" r:id="rId19"/>
    <p:sldId id="380" r:id="rId20"/>
    <p:sldId id="379" r:id="rId21"/>
    <p:sldId id="383" r:id="rId22"/>
    <p:sldId id="384" r:id="rId23"/>
    <p:sldId id="347" r:id="rId24"/>
    <p:sldId id="385" r:id="rId25"/>
    <p:sldId id="386" r:id="rId26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作者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>
        <p:guide pos="6504"/>
        <p:guide orient="horz" pos="3696"/>
        <p:guide orient="horz" pos="19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C91EE64A-63A8-40FE-810D-25E2BAC8C423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2026/10/18</a:t>
            </a:fld>
            <a:endParaRPr lang="en-US" alt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9E9D563E-BCB2-465B-8A3C-AC86CE64F69C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3C1CEBD-F8D6-4199-9D2D-DDB1C3E0D1EF}" type="datetime1">
              <a:rPr lang="en-US" altLang="zh-CN" smtClean="0"/>
              <a:pPr/>
              <a:t>10/18/2026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B990660-4B7D-4C11-96DB-B19FFA8CA93C}" type="slidenum">
              <a:rPr lang="en-US" altLang="zh-CN" noProof="0" smtClean="0"/>
              <a:pPr/>
              <a:t>‹#›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r>
              <a:rPr lang="af-ZA" altLang="zh-CN"/>
              <a:t>Today I will present our work on Physics-Informed Neural Networks (PINNs) applied to a fed-batch bioreactor system.</a:t>
            </a:r>
            <a:endParaRPr lang="zh-CN" altLang="en-US"/>
          </a:p>
          <a:p>
            <a:endParaRPr lang="af-ZA" alt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990660-4B7D-4C11-96DB-B19FFA8CA93C}" type="slidenum">
              <a:rPr lang="en-US" altLang="zh-CN" noProof="0" smtClean="0"/>
              <a:t>1</a:t>
            </a:fld>
            <a:endParaRPr lang="zh-CN" noProof="0"/>
          </a:p>
        </p:txBody>
      </p:sp>
    </p:spTree>
    <p:extLst>
      <p:ext uri="{BB962C8B-B14F-4D97-AF65-F5344CB8AC3E}">
        <p14:creationId xmlns:p14="http://schemas.microsoft.com/office/powerpoint/2010/main" val="45897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2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3143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3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0746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5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4154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6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4496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dirty="0">
              <a:latin typeface="Microsoft YaHei UI"/>
              <a:ea typeface="Microsoft YaHei U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8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0542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>
              <a:latin typeface="Microsoft YaHei UI"/>
              <a:ea typeface="Microsoft YaHei U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9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1045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>
              <a:latin typeface="Microsoft YaHei UI"/>
              <a:ea typeface="Microsoft YaHei U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10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107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>
              <a:latin typeface="Microsoft YaHei UI"/>
              <a:ea typeface="Microsoft YaHei U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11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4843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Now I move to the experimental results.</a:t>
            </a:r>
            <a:br>
              <a:rPr lang="en-US" altLang="zh-CN"/>
            </a:br>
            <a:r>
              <a:rPr lang="en-US" altLang="zh-CN"/>
              <a:t> In this part, I will show four things.</a:t>
            </a:r>
            <a:endParaRPr lang="zh-CN"/>
          </a:p>
          <a:p>
            <a:r>
              <a:rPr lang="en-US" altLang="zh-CN">
                <a:latin typeface="Microsoft YaHei UI"/>
                <a:ea typeface="Microsoft YaHei UI"/>
              </a:rPr>
              <a:t>First, I show how the loss weight </a:t>
            </a:r>
            <a:r>
              <a:rPr lang="en-US" altLang="zh-CN" b="1">
                <a:latin typeface="Microsoft YaHei UI"/>
                <a:ea typeface="Microsoft YaHei UI"/>
              </a:rPr>
              <a:t>lambda  </a:t>
            </a:r>
            <a:r>
              <a:rPr lang="en-US" altLang="zh-CN">
                <a:latin typeface="Microsoft YaHei UI"/>
                <a:ea typeface="Microsoft YaHei UI"/>
              </a:rPr>
              <a:t>affects the training, so we can see the trade-off between data fitting and physics.</a:t>
            </a:r>
            <a:br>
              <a:rPr lang="en-US" altLang="zh-CN"/>
            </a:br>
            <a:r>
              <a:rPr lang="en-US" altLang="zh-CN">
                <a:latin typeface="Microsoft YaHei UI"/>
                <a:ea typeface="Microsoft YaHei UI"/>
              </a:rPr>
              <a:t> Second, I show the training convergence, with the loss curves.</a:t>
            </a:r>
            <a:br>
              <a:rPr lang="en-US" altLang="zh-CN"/>
            </a:br>
            <a:r>
              <a:rPr lang="en-US" altLang="zh-CN">
                <a:latin typeface="Microsoft YaHei UI"/>
                <a:ea typeface="Microsoft YaHei UI"/>
              </a:rPr>
              <a:t> Third, I show accuracy using </a:t>
            </a:r>
            <a:r>
              <a:rPr lang="en-US" altLang="zh-CN" b="1">
                <a:latin typeface="Microsoft YaHei UI"/>
                <a:ea typeface="Microsoft YaHei UI"/>
              </a:rPr>
              <a:t>R2</a:t>
            </a:r>
            <a:r>
              <a:rPr lang="en-US"/>
              <a:t>（coefficient of determination）</a:t>
            </a:r>
            <a:r>
              <a:rPr lang="en-US" altLang="zh-CN">
                <a:latin typeface="Microsoft YaHei UI"/>
                <a:ea typeface="Microsoft YaHei UI"/>
              </a:rPr>
              <a:t> on train, validation, and test sets.</a:t>
            </a:r>
            <a:br>
              <a:rPr lang="en-US" altLang="zh-CN"/>
            </a:br>
            <a:r>
              <a:rPr lang="en-US" altLang="zh-CN">
                <a:latin typeface="Microsoft YaHei UI"/>
                <a:ea typeface="Microsoft YaHei UI"/>
              </a:rPr>
              <a:t> Finally, I show the time-series results on the unseen test batch, </a:t>
            </a:r>
            <a:r>
              <a:rPr lang="en-US" altLang="zh-CN" b="1">
                <a:latin typeface="Microsoft YaHei UI"/>
                <a:ea typeface="Microsoft YaHei UI"/>
              </a:rPr>
              <a:t>Batch 16</a:t>
            </a:r>
            <a:r>
              <a:rPr lang="en-US" altLang="zh-CN">
                <a:latin typeface="Microsoft YaHei UI"/>
                <a:ea typeface="Microsoft YaHei UI"/>
              </a:rPr>
              <a:t>.</a:t>
            </a:r>
            <a:endParaRPr lang="zh-CN">
              <a:latin typeface="Microsoft YaHei UI"/>
              <a:ea typeface="Microsoft YaHei UI"/>
            </a:endParaRPr>
          </a:p>
          <a:p>
            <a:r>
              <a:rPr lang="en-US" altLang="zh-CN">
                <a:latin typeface="Microsoft YaHei UI"/>
                <a:ea typeface="Microsoft YaHei UI"/>
              </a:rPr>
              <a:t>In all results, we focus on the four predicted states.</a:t>
            </a:r>
            <a:br>
              <a:rPr lang="en-US" altLang="zh-CN"/>
            </a:br>
            <a:r>
              <a:rPr lang="en-US" altLang="zh-CN">
                <a:latin typeface="Microsoft YaHei UI"/>
                <a:ea typeface="Microsoft YaHei UI"/>
              </a:rPr>
              <a:t> Batch 16 is our main benchmark because its input profile is unseen during training.</a:t>
            </a:r>
            <a:endParaRPr lang="zh-CN">
              <a:latin typeface="Microsoft YaHei UI"/>
              <a:ea typeface="Microsoft YaHei UI"/>
            </a:endParaRPr>
          </a:p>
          <a:p>
            <a:endParaRPr lang="en-US" altLang="zh-CN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13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6113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Microsoft YaHei UI"/>
                <a:ea typeface="Microsoft YaHei UI"/>
              </a:rPr>
              <a:t>This slide shows the effect of </a:t>
            </a:r>
            <a:r>
              <a:rPr lang="en-US" b="1">
                <a:latin typeface="Microsoft YaHei UI"/>
                <a:ea typeface="Microsoft YaHei UI"/>
              </a:rPr>
              <a:t>λ</a:t>
            </a:r>
            <a:r>
              <a:rPr lang="en-US">
                <a:latin typeface="Microsoft YaHei UI"/>
                <a:ea typeface="Microsoft YaHei UI"/>
              </a:rPr>
              <a:t>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λ controls the balance between </a:t>
            </a:r>
            <a:r>
              <a:rPr lang="en-US" b="1">
                <a:latin typeface="Microsoft YaHei UI"/>
                <a:ea typeface="Microsoft YaHei UI"/>
              </a:rPr>
              <a:t>data loss</a:t>
            </a:r>
            <a:r>
              <a:rPr lang="en-US">
                <a:latin typeface="Microsoft YaHei UI"/>
                <a:ea typeface="Microsoft YaHei UI"/>
              </a:rPr>
              <a:t> and </a:t>
            </a:r>
            <a:r>
              <a:rPr lang="en-US" b="1">
                <a:latin typeface="Microsoft YaHei UI"/>
                <a:ea typeface="Microsoft YaHei UI"/>
              </a:rPr>
              <a:t>physics loss</a:t>
            </a:r>
            <a:r>
              <a:rPr lang="en-US">
                <a:latin typeface="Microsoft YaHei UI"/>
                <a:ea typeface="Microsoft YaHei UI"/>
              </a:rPr>
              <a:t>.</a:t>
            </a:r>
            <a:endParaRPr lang="zh-CN" altLang="en-US">
              <a:latin typeface="Microsoft YaHei UI"/>
              <a:ea typeface="Microsoft YaHei UI"/>
            </a:endParaRPr>
          </a:p>
          <a:p>
            <a:r>
              <a:rPr lang="en-US">
                <a:latin typeface="Microsoft YaHei UI"/>
                <a:ea typeface="Microsoft YaHei UI"/>
              </a:rPr>
              <a:t>When λ=0, the model only cares about data fitting.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So the data loss is small, but the physics loss is very large.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This means the model does not follow the physical equations well.</a:t>
            </a:r>
            <a:endParaRPr lang="zh-CN">
              <a:latin typeface="Microsoft YaHei UI"/>
              <a:ea typeface="Microsoft YaHei UI"/>
            </a:endParaRPr>
          </a:p>
          <a:p>
            <a:r>
              <a:rPr lang="en-US">
                <a:latin typeface="Microsoft YaHei UI"/>
                <a:ea typeface="Microsoft YaHei UI"/>
              </a:rPr>
              <a:t>When we increase λ, the physics loss becomes much smaller.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But at the same time, the data loss can become larger.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So we have a clear trade-off: better physics consistency versus better data fitting.</a:t>
            </a:r>
            <a:endParaRPr lang="zh-CN">
              <a:latin typeface="Microsoft YaHei UI"/>
              <a:ea typeface="Microsoft YaHei UI"/>
            </a:endParaRPr>
          </a:p>
          <a:p>
            <a:r>
              <a:rPr lang="en-US">
                <a:latin typeface="Microsoft YaHei UI"/>
                <a:ea typeface="Microsoft YaHei UI"/>
              </a:rPr>
              <a:t>From this plot, a middle value, around </a:t>
            </a:r>
            <a:r>
              <a:rPr lang="en-US" b="1">
                <a:latin typeface="Microsoft YaHei UI"/>
                <a:ea typeface="Microsoft YaHei UI"/>
              </a:rPr>
              <a:t>λ≈0.75</a:t>
            </a:r>
            <a:r>
              <a:rPr lang="en-US">
                <a:latin typeface="Microsoft YaHei UI"/>
                <a:ea typeface="Microsoft YaHei UI"/>
              </a:rPr>
              <a:t>, gives the best balance between train and validation losses.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So in the next results, we use a fixed λ close to this good region.</a:t>
            </a:r>
          </a:p>
          <a:p>
            <a:endParaRPr lang="en-US" altLang="zh-CN">
              <a:latin typeface="Microsoft YaHei UI"/>
              <a:ea typeface="Microsoft YaHei UI"/>
            </a:endParaRPr>
          </a:p>
          <a:p>
            <a:endParaRPr lang="en-US" altLang="zh-CN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14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3845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US">
                <a:latin typeface="Microsoft YaHei UI"/>
                <a:ea typeface="Microsoft YaHei UI"/>
              </a:rPr>
              <a:t>This slide shows the training convergence with a fixed λ, and the test is Batch 16.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We plot </a:t>
            </a:r>
            <a:r>
              <a:rPr lang="en-US" b="1">
                <a:latin typeface="Microsoft YaHei UI"/>
                <a:ea typeface="Microsoft YaHei UI"/>
              </a:rPr>
              <a:t>total loss</a:t>
            </a:r>
            <a:r>
              <a:rPr lang="en-US">
                <a:latin typeface="Microsoft YaHei UI"/>
                <a:ea typeface="Microsoft YaHei UI"/>
              </a:rPr>
              <a:t>, </a:t>
            </a:r>
            <a:r>
              <a:rPr lang="en-US" b="1">
                <a:latin typeface="Microsoft YaHei UI"/>
                <a:ea typeface="Microsoft YaHei UI"/>
              </a:rPr>
              <a:t>data loss</a:t>
            </a:r>
            <a:r>
              <a:rPr lang="en-US">
                <a:latin typeface="Microsoft YaHei UI"/>
                <a:ea typeface="Microsoft YaHei UI"/>
              </a:rPr>
              <a:t>, and </a:t>
            </a:r>
            <a:r>
              <a:rPr lang="en-US" b="1">
                <a:latin typeface="Microsoft YaHei UI"/>
                <a:ea typeface="Microsoft YaHei UI"/>
              </a:rPr>
              <a:t>physics loss</a:t>
            </a:r>
            <a:r>
              <a:rPr lang="en-US">
                <a:latin typeface="Microsoft YaHei UI"/>
                <a:ea typeface="Microsoft YaHei UI"/>
              </a:rPr>
              <a:t> versus epochs.</a:t>
            </a:r>
            <a:endParaRPr lang="zh-CN" altLang="en-US">
              <a:latin typeface="Microsoft YaHei UI"/>
              <a:ea typeface="Microsoft YaHei UI"/>
            </a:endParaRPr>
          </a:p>
          <a:p>
            <a:pPr>
              <a:buFont typeface="Arial"/>
              <a:buChar char="•"/>
            </a:pPr>
            <a:r>
              <a:rPr lang="en-US"/>
              <a:t>At the beginning, all losses drop fast.</a:t>
            </a:r>
            <a:br>
              <a:rPr lang="en-US"/>
            </a:br>
            <a:r>
              <a:rPr lang="en-US"/>
              <a:t> This means the model learns the main pattern quickly.</a:t>
            </a:r>
            <a:endParaRPr lang="zh-CN"/>
          </a:p>
          <a:p>
            <a:pPr>
              <a:buFont typeface="Arial"/>
              <a:buChar char="•"/>
            </a:pPr>
            <a:r>
              <a:rPr lang="en-US"/>
              <a:t>Later, the losses decrease more slowly and reach a stable level.</a:t>
            </a:r>
            <a:br>
              <a:rPr lang="en-US"/>
            </a:br>
            <a:r>
              <a:rPr lang="en-US"/>
              <a:t> We can also see small fluctuations, especially in physics loss.</a:t>
            </a:r>
            <a:br>
              <a:rPr lang="en-US"/>
            </a:br>
            <a:r>
              <a:rPr lang="en-US"/>
              <a:t> This is normal because we sample batches and collocation points randomly during training.</a:t>
            </a:r>
          </a:p>
          <a:p>
            <a:pPr>
              <a:buFont typeface="Arial"/>
              <a:buChar char="•"/>
            </a:pPr>
            <a:r>
              <a:rPr lang="en-US"/>
              <a:t>Overall, the training is stable and the losses converge.</a:t>
            </a:r>
          </a:p>
          <a:p>
            <a:pPr>
              <a:buFont typeface="Arial"/>
              <a:buChar char="•"/>
            </a:pPr>
            <a:endParaRPr lang="en-US">
              <a:latin typeface="Microsoft YaHei UI"/>
              <a:ea typeface="Microsoft YaHei UI"/>
            </a:endParaRPr>
          </a:p>
          <a:p>
            <a:pPr>
              <a:buFont typeface="Arial"/>
              <a:buChar char="•"/>
            </a:pPr>
            <a:endParaRPr lang="en-US" altLang="zh-CN"/>
          </a:p>
          <a:p>
            <a:pPr marL="285750" indent="-285750">
              <a:buFont typeface="Arial"/>
              <a:buChar char="•"/>
            </a:pPr>
            <a:endParaRPr lang="en-US" altLang="zh-CN">
              <a:latin typeface="Microsoft YaHei UI"/>
              <a:ea typeface="Microsoft YaHei UI"/>
            </a:endParaRPr>
          </a:p>
          <a:p>
            <a:endParaRPr lang="en-US" altLang="zh-CN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15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8217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endParaRPr lang="en-US"/>
          </a:p>
          <a:p>
            <a:r>
              <a:rPr lang="en-US"/>
              <a:t>Here we compare predictions with true values for the four variables.</a:t>
            </a:r>
            <a:br>
              <a:rPr lang="en-US"/>
            </a:br>
            <a:r>
              <a:rPr lang="en-US"/>
              <a:t> Each plot shows predicted values versus true values.</a:t>
            </a:r>
            <a:br>
              <a:rPr lang="en-US"/>
            </a:br>
            <a:r>
              <a:rPr lang="en-US"/>
              <a:t> The dashed line is the ideal case: prediction equals true value.</a:t>
            </a:r>
          </a:p>
          <a:p>
            <a:r>
              <a:rPr lang="en-US">
                <a:latin typeface="Microsoft YaHei UI"/>
                <a:ea typeface="Microsoft YaHei UI"/>
              </a:rPr>
              <a:t>Most points are close to the dashed line, so the accuracy is high.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We also report </a:t>
            </a:r>
            <a:r>
              <a:rPr lang="en-US" b="1">
                <a:latin typeface="Microsoft YaHei UI"/>
                <a:ea typeface="Microsoft YaHei UI"/>
              </a:rPr>
              <a:t>R2</a:t>
            </a:r>
            <a:r>
              <a:rPr lang="en-US">
                <a:latin typeface="Microsoft YaHei UI"/>
                <a:ea typeface="Microsoft YaHei UI"/>
              </a:rPr>
              <a:t> for train, validation, and test.</a:t>
            </a:r>
          </a:p>
          <a:p>
            <a:r>
              <a:rPr lang="en-US">
                <a:latin typeface="Microsoft YaHei UI"/>
                <a:ea typeface="Microsoft YaHei UI"/>
              </a:rPr>
              <a:t>In general, test R2 is very high for all variables, close to 1.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We can also see that the validation scores for </a:t>
            </a:r>
            <a:r>
              <a:rPr lang="en-US" b="1">
                <a:latin typeface="Microsoft YaHei UI"/>
                <a:ea typeface="Microsoft YaHei UI"/>
              </a:rPr>
              <a:t>Pt (</a:t>
            </a:r>
            <a:r>
              <a:rPr lang="en-US" altLang="zh-CN">
                <a:latin typeface="Microsoft YaHei UI"/>
                <a:ea typeface="Microsoft YaHei UI"/>
              </a:rPr>
              <a:t>Total</a:t>
            </a:r>
            <a:r>
              <a:rPr lang="zh-CN" altLang="en-US">
                <a:latin typeface="Microsoft YaHei UI"/>
                <a:ea typeface="Microsoft YaHei UI"/>
              </a:rPr>
              <a:t> </a:t>
            </a:r>
            <a:r>
              <a:rPr lang="en-US" altLang="zh-CN">
                <a:latin typeface="Microsoft YaHei UI"/>
                <a:ea typeface="Microsoft YaHei UI"/>
              </a:rPr>
              <a:t>product</a:t>
            </a:r>
            <a:r>
              <a:rPr lang="en-US">
                <a:latin typeface="Microsoft YaHei UI"/>
                <a:ea typeface="Microsoft YaHei UI"/>
              </a:rPr>
              <a:t> and) </a:t>
            </a:r>
            <a:r>
              <a:rPr lang="en-US" b="1">
                <a:latin typeface="Microsoft YaHei UI"/>
                <a:ea typeface="Microsoft YaHei UI"/>
              </a:rPr>
              <a:t>Pm (</a:t>
            </a:r>
            <a:r>
              <a:rPr lang="en-US" altLang="zh-CN">
                <a:latin typeface="Microsoft YaHei UI"/>
                <a:ea typeface="Microsoft YaHei UI"/>
              </a:rPr>
              <a:t>Secreted</a:t>
            </a:r>
            <a:r>
              <a:rPr lang="zh-CN" altLang="en-US">
                <a:latin typeface="Microsoft YaHei UI"/>
                <a:ea typeface="Microsoft YaHei UI"/>
              </a:rPr>
              <a:t> </a:t>
            </a:r>
            <a:r>
              <a:rPr lang="en-US" altLang="zh-CN">
                <a:latin typeface="Microsoft YaHei UI"/>
                <a:ea typeface="Microsoft YaHei UI"/>
              </a:rPr>
              <a:t>product)</a:t>
            </a:r>
            <a:r>
              <a:rPr lang="en-US" b="1">
                <a:latin typeface="Microsoft YaHei UI"/>
                <a:ea typeface="Microsoft YaHei UI"/>
              </a:rPr>
              <a:t> </a:t>
            </a:r>
            <a:r>
              <a:rPr lang="en-US">
                <a:latin typeface="Microsoft YaHei UI"/>
                <a:ea typeface="Microsoft YaHei UI"/>
              </a:rPr>
              <a:t> are a bit lower than X (</a:t>
            </a:r>
            <a:r>
              <a:rPr lang="en-US" altLang="zh-CN">
                <a:latin typeface="Microsoft YaHei UI"/>
                <a:ea typeface="Microsoft YaHei UI"/>
              </a:rPr>
              <a:t>Biomass)</a:t>
            </a:r>
            <a:r>
              <a:rPr lang="en-US">
                <a:latin typeface="Microsoft YaHei UI"/>
                <a:ea typeface="Microsoft YaHei UI"/>
              </a:rPr>
              <a:t> and S (</a:t>
            </a:r>
            <a:r>
              <a:rPr lang="en-US" altLang="zh-CN">
                <a:latin typeface="Microsoft YaHei UI"/>
                <a:ea typeface="Microsoft YaHei UI"/>
              </a:rPr>
              <a:t>Substrate)</a:t>
            </a:r>
            <a:r>
              <a:rPr lang="en-US">
                <a:latin typeface="Microsoft YaHei UI"/>
                <a:ea typeface="Microsoft YaHei UI"/>
              </a:rPr>
              <a:t>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This suggests product variables are harder, because they depend on many factors and errors can accumulate.</a:t>
            </a:r>
          </a:p>
          <a:p>
            <a:r>
              <a:rPr lang="en-US"/>
              <a:t>But the overall performance is still strong, especially on the unseen test batch.</a:t>
            </a:r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16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2929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slide shows the time-series comparison on the unseen test batch, </a:t>
            </a:r>
            <a:r>
              <a:rPr lang="en-US" altLang="zh-CN" b="1"/>
              <a:t>Batch 16</a:t>
            </a:r>
            <a:r>
              <a:rPr lang="en-US" altLang="zh-CN"/>
              <a:t>.</a:t>
            </a:r>
            <a:br>
              <a:rPr lang="en-US" altLang="zh-CN"/>
            </a:br>
            <a:r>
              <a:rPr lang="en-US" altLang="zh-CN"/>
              <a:t> Black is the true trajectory, and the red dashed line is the PINN prediction.</a:t>
            </a:r>
            <a:endParaRPr lang="zh-CN"/>
          </a:p>
          <a:p>
            <a:r>
              <a:rPr lang="en-US" altLang="zh-CN">
                <a:latin typeface="Microsoft YaHei UI"/>
                <a:ea typeface="Microsoft YaHei UI"/>
              </a:rPr>
              <a:t>For </a:t>
            </a:r>
            <a:r>
              <a:rPr lang="en-US" altLang="zh-CN" b="1">
                <a:latin typeface="Microsoft YaHei UI"/>
                <a:ea typeface="Microsoft YaHei UI"/>
              </a:rPr>
              <a:t>biomass XXX</a:t>
            </a:r>
            <a:r>
              <a:rPr lang="en-US" altLang="zh-CN">
                <a:latin typeface="Microsoft YaHei UI"/>
                <a:ea typeface="Microsoft YaHei UI"/>
              </a:rPr>
              <a:t> and </a:t>
            </a:r>
            <a:r>
              <a:rPr lang="en-US" altLang="zh-CN" b="1">
                <a:latin typeface="Microsoft YaHei UI"/>
                <a:ea typeface="Microsoft YaHei UI"/>
              </a:rPr>
              <a:t>substrate SSS</a:t>
            </a:r>
            <a:r>
              <a:rPr lang="en-US" altLang="zh-CN">
                <a:latin typeface="Microsoft YaHei UI"/>
                <a:ea typeface="Microsoft YaHei UI"/>
              </a:rPr>
              <a:t>, the prediction follows the true curve well over time.</a:t>
            </a:r>
            <a:br>
              <a:rPr lang="en-US" altLang="zh-CN"/>
            </a:br>
            <a:r>
              <a:rPr lang="en-US" altLang="zh-CN">
                <a:latin typeface="Microsoft YaHei UI"/>
                <a:ea typeface="Microsoft YaHei UI"/>
              </a:rPr>
              <a:t> For </a:t>
            </a:r>
            <a:r>
              <a:rPr lang="en-US" altLang="zh-CN" b="1">
                <a:latin typeface="Microsoft YaHei UI"/>
                <a:ea typeface="Microsoft YaHei UI"/>
              </a:rPr>
              <a:t>PtP_tPt</a:t>
            </a:r>
            <a:r>
              <a:rPr lang="en-US" b="1">
                <a:latin typeface="Microsoft YaHei UI"/>
                <a:ea typeface="Microsoft YaHei UI"/>
              </a:rPr>
              <a:t>(</a:t>
            </a:r>
            <a:r>
              <a:rPr lang="en-US">
                <a:latin typeface="Microsoft YaHei UI"/>
                <a:ea typeface="Microsoft YaHei UI"/>
              </a:rPr>
              <a:t>Total</a:t>
            </a:r>
            <a:r>
              <a:rPr lang="zh-CN">
                <a:latin typeface="Microsoft YaHei UI"/>
                <a:ea typeface="Microsoft YaHei UI"/>
              </a:rPr>
              <a:t> </a:t>
            </a:r>
            <a:r>
              <a:rPr lang="en-US">
                <a:latin typeface="Microsoft YaHei UI"/>
                <a:ea typeface="Microsoft YaHei UI"/>
              </a:rPr>
              <a:t>product and)</a:t>
            </a:r>
            <a:r>
              <a:rPr lang="en-US" altLang="zh-CN" b="1">
                <a:latin typeface="Microsoft YaHei UI"/>
                <a:ea typeface="Microsoft YaHei UI"/>
              </a:rPr>
              <a:t> </a:t>
            </a:r>
            <a:r>
              <a:rPr lang="en-US" altLang="zh-CN">
                <a:latin typeface="Microsoft YaHei UI"/>
                <a:ea typeface="Microsoft YaHei UI"/>
              </a:rPr>
              <a:t> and </a:t>
            </a:r>
            <a:r>
              <a:rPr lang="en-US" altLang="zh-CN" b="1" err="1">
                <a:latin typeface="Microsoft YaHei UI"/>
                <a:ea typeface="Microsoft YaHei UI"/>
              </a:rPr>
              <a:t>PmP_mPm</a:t>
            </a:r>
            <a:r>
              <a:rPr lang="en-US" b="1">
                <a:latin typeface="Microsoft YaHei UI"/>
                <a:ea typeface="Microsoft YaHei UI"/>
              </a:rPr>
              <a:t>(</a:t>
            </a:r>
            <a:r>
              <a:rPr lang="en-US">
                <a:latin typeface="Microsoft YaHei UI"/>
                <a:ea typeface="Microsoft YaHei UI"/>
              </a:rPr>
              <a:t>Secreted</a:t>
            </a:r>
            <a:r>
              <a:rPr lang="zh-CN" altLang="en-US">
                <a:latin typeface="Microsoft YaHei UI"/>
                <a:ea typeface="Microsoft YaHei UI"/>
              </a:rPr>
              <a:t> </a:t>
            </a:r>
            <a:r>
              <a:rPr lang="en-US">
                <a:latin typeface="Microsoft YaHei UI"/>
                <a:ea typeface="Microsoft YaHei UI"/>
              </a:rPr>
              <a:t>product)</a:t>
            </a:r>
            <a:r>
              <a:rPr lang="en-US" altLang="zh-CN" b="1">
                <a:latin typeface="Microsoft YaHei UI"/>
                <a:ea typeface="Microsoft YaHei UI"/>
              </a:rPr>
              <a:t> </a:t>
            </a:r>
            <a:r>
              <a:rPr lang="en-US" altLang="zh-CN">
                <a:latin typeface="Microsoft YaHei UI"/>
                <a:ea typeface="Microsoft YaHei UI"/>
              </a:rPr>
              <a:t>, the model captures the main trend, especially the increase in the late stage.</a:t>
            </a:r>
            <a:br>
              <a:rPr lang="en-US" altLang="zh-CN"/>
            </a:br>
            <a:r>
              <a:rPr lang="en-US" altLang="zh-CN">
                <a:latin typeface="Microsoft YaHei UI"/>
                <a:ea typeface="Microsoft YaHei UI"/>
              </a:rPr>
              <a:t> There is a small difference near the end, but the overall shape is correct.</a:t>
            </a:r>
            <a:endParaRPr lang="zh-CN">
              <a:latin typeface="Microsoft YaHei UI"/>
              <a:ea typeface="Microsoft YaHei UI"/>
            </a:endParaRPr>
          </a:p>
          <a:p>
            <a:r>
              <a:rPr lang="en-US" altLang="zh-CN">
                <a:latin typeface="Microsoft YaHei UI"/>
                <a:ea typeface="Microsoft YaHei UI"/>
              </a:rPr>
              <a:t>For </a:t>
            </a:r>
            <a:r>
              <a:rPr lang="en-US" altLang="zh-CN" b="1">
                <a:latin typeface="Microsoft YaHei UI"/>
                <a:ea typeface="Microsoft YaHei UI"/>
              </a:rPr>
              <a:t>volume VVV</a:t>
            </a:r>
            <a:r>
              <a:rPr lang="en-US" altLang="zh-CN">
                <a:latin typeface="Microsoft YaHei UI"/>
                <a:ea typeface="Microsoft YaHei UI"/>
              </a:rPr>
              <a:t>, the match is almost perfect because volume is computed from </a:t>
            </a:r>
            <a:r>
              <a:rPr lang="en-US" altLang="zh-CN" err="1">
                <a:latin typeface="Microsoft YaHei UI"/>
                <a:ea typeface="Microsoft YaHei UI"/>
              </a:rPr>
              <a:t>dVdt</a:t>
            </a:r>
            <a:r>
              <a:rPr lang="en-US" altLang="zh-CN">
                <a:latin typeface="Microsoft YaHei UI"/>
                <a:ea typeface="Microsoft YaHei UI"/>
              </a:rPr>
              <a:t>=F in our setup.</a:t>
            </a:r>
            <a:br>
              <a:rPr lang="en-US" altLang="zh-CN"/>
            </a:br>
            <a:r>
              <a:rPr lang="en-US" altLang="zh-CN">
                <a:latin typeface="Microsoft YaHei UI"/>
                <a:ea typeface="Microsoft YaHei UI"/>
              </a:rPr>
              <a:t> The last plot shows the feed rate F(t), which has step changes.</a:t>
            </a:r>
            <a:br>
              <a:rPr lang="en-US" altLang="zh-CN"/>
            </a:br>
            <a:r>
              <a:rPr lang="en-US" altLang="zh-CN">
                <a:latin typeface="Microsoft YaHei UI"/>
                <a:ea typeface="Microsoft YaHei UI"/>
              </a:rPr>
              <a:t> Even with these changes, the model remains stable.</a:t>
            </a:r>
            <a:endParaRPr lang="zh-CN">
              <a:latin typeface="Microsoft YaHei UI"/>
              <a:ea typeface="Microsoft YaHei UI"/>
            </a:endParaRPr>
          </a:p>
          <a:p>
            <a:r>
              <a:rPr lang="en-US" altLang="zh-CN">
                <a:latin typeface="Microsoft YaHei UI"/>
                <a:ea typeface="Microsoft YaHei UI"/>
              </a:rPr>
              <a:t>So this figure shows good generalization on Batch 16.</a:t>
            </a:r>
            <a:endParaRPr lang="zh-CN">
              <a:latin typeface="Microsoft YaHei UI"/>
              <a:ea typeface="Microsoft YaHei UI"/>
            </a:endParaRPr>
          </a:p>
          <a:p>
            <a:endParaRPr lang="en-US" altLang="zh-CN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17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9422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6557C-B264-370C-FE73-3EFA0D83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5A6066-8AA1-BBAF-215E-9CF76C9E2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27003D-FB69-239A-6E5B-FBE53AD9F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Microsoft YaHei UI"/>
                <a:ea typeface="Microsoft YaHei UI"/>
              </a:rPr>
              <a:t>In conclusion, we compared three approaches.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A pure physics model is easy to interpret and follows physics, but it can be inaccurate if the kinetics or parameters are not correct.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A pure neural network can be more accurate when we have enough data, and in our experiments it performs better than PINN in terms of prediction error.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However, with limited or noisy data, it may overfit and may break physics.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PINN adds physics constraints as a </a:t>
            </a:r>
            <a:r>
              <a:rPr lang="en-US" err="1">
                <a:latin typeface="Microsoft YaHei UI"/>
                <a:ea typeface="Microsoft YaHei UI"/>
              </a:rPr>
              <a:t>regularizer</a:t>
            </a:r>
            <a:r>
              <a:rPr lang="en-US">
                <a:latin typeface="Microsoft YaHei UI"/>
                <a:ea typeface="Microsoft YaHei UI"/>
              </a:rPr>
              <a:t>, so it gives stable and physically meaningful results when data are not enough.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So, with rich data we prefer pure NN, but with limited data we prefer PINN.</a:t>
            </a:r>
            <a:endParaRPr lang="zh-CN">
              <a:latin typeface="Microsoft YaHei UI"/>
              <a:ea typeface="Microsoft YaHei UI"/>
            </a:endParaRPr>
          </a:p>
          <a:p>
            <a:endParaRPr lang="en-US" altLang="zh-CN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395F05-97C7-1B52-6BB3-F1D3CC36E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19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59226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B990660-4B7D-4C11-96DB-B19FFA8CA93C}" type="slidenum">
              <a:rPr lang="en-US" altLang="zh-CN" noProof="0" smtClean="0"/>
              <a:t>20</a:t>
            </a:fld>
            <a:endParaRPr lang="zh-CN" noProof="0"/>
          </a:p>
        </p:txBody>
      </p:sp>
    </p:spTree>
    <p:extLst>
      <p:ext uri="{BB962C8B-B14F-4D97-AF65-F5344CB8AC3E}">
        <p14:creationId xmlns:p14="http://schemas.microsoft.com/office/powerpoint/2010/main" val="3845341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D2FD-31CC-5A2D-07F6-7F5113795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F5DA7C-33C0-4B70-CA01-68DD94F83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3D5D15-D29F-DD4E-7B49-FE1C5500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Microsoft YaHei UI"/>
                <a:ea typeface="Microsoft YaHei UI"/>
              </a:rPr>
              <a:t>In conclusion, we compared three approaches.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A pure physics model is easy to interpret and follows physics, but it can be inaccurate if the kinetics or parameters are not correct.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A pure neural network can be more accurate when we have enough data, and in our experiments it performs better than PINN in terms of prediction error.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However, with limited or noisy data, it may overfit and may break physics.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PINN adds physics constraints as a </a:t>
            </a:r>
            <a:r>
              <a:rPr lang="en-US" err="1">
                <a:latin typeface="Microsoft YaHei UI"/>
                <a:ea typeface="Microsoft YaHei UI"/>
              </a:rPr>
              <a:t>regularizer</a:t>
            </a:r>
            <a:r>
              <a:rPr lang="en-US">
                <a:latin typeface="Microsoft YaHei UI"/>
                <a:ea typeface="Microsoft YaHei UI"/>
              </a:rPr>
              <a:t>, so it gives stable and physically meaningful results when data are not enough.</a:t>
            </a:r>
            <a:br>
              <a:rPr lang="en-US"/>
            </a:br>
            <a:r>
              <a:rPr lang="en-US">
                <a:latin typeface="Microsoft YaHei UI"/>
                <a:ea typeface="Microsoft YaHei UI"/>
              </a:rPr>
              <a:t> So, with rich data we prefer pure NN, but with limited data we prefer PINN.</a:t>
            </a:r>
            <a:endParaRPr lang="zh-CN">
              <a:latin typeface="Microsoft YaHei UI"/>
              <a:ea typeface="Microsoft YaHei UI"/>
            </a:endParaRPr>
          </a:p>
          <a:p>
            <a:endParaRPr lang="en-US" altLang="zh-CN">
              <a:latin typeface="Calibri"/>
              <a:ea typeface="Calibri"/>
              <a:cs typeface="Calibr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61C842-EFD3-8435-52FA-153CD901F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90660-4B7D-4C11-96DB-B19FFA8CA93C}" type="slidenum">
              <a:rPr lang="en-US" altLang="zh-CN" noProof="0" smtClean="0"/>
              <a:pPr/>
              <a:t>22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9700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zh-CN" sz="4000" b="1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</a:t>
            </a: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zh-CN" sz="28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5pPr>
          </a:lstStyle>
          <a:p>
            <a:pPr lvl="0" rtl="0"/>
            <a:r>
              <a:rPr lang="zh-CN"/>
              <a:t>单击此处添加文本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 </a:t>
            </a:r>
          </a:p>
          <a:p>
            <a:pPr lvl="3" rtl="0"/>
            <a:r>
              <a:rPr lang="zh-CN"/>
              <a:t>第四级 </a:t>
            </a:r>
          </a:p>
          <a:p>
            <a:pPr lvl="4" rtl="0"/>
            <a:r>
              <a:rPr lang="zh-CN"/>
              <a:t>第五级 </a:t>
            </a:r>
          </a:p>
          <a:p>
            <a:pPr lvl="0" rtl="0"/>
            <a:endParaRPr lang="zh-CN"/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zh-CN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n-US" altLang="zh-CN" smtClean="0"/>
              <a:pPr rtl="0"/>
              <a:t>‹#›</a:t>
            </a:fld>
            <a:endParaRPr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>
            <a:normAutofit/>
          </a:bodyPr>
          <a:lstStyle>
            <a:lvl1pPr algn="r"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CN" altLang="en-US"/>
              <a:t>演示文稿标题</a:t>
            </a:r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zh-CN" sz="40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</a:t>
            </a:r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/>
              <a:t>单击图标以添加图片</a:t>
            </a:r>
          </a:p>
        </p:txBody>
      </p:sp>
      <p:sp>
        <p:nvSpPr>
          <p:cNvPr id="11" name="长方形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zh-CN" sz="40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</a:t>
            </a:r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/>
              <a:t>单击图标以添加图片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zh-CN" sz="28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457200" indent="0">
              <a:buNone/>
              <a:defRPr lang="zh-CN" sz="24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 marL="914400" indent="0"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 marL="1371600" indent="0">
              <a:buNone/>
              <a:defRPr lang="zh-CN" sz="18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4pPr>
            <a:lvl5pPr marL="1828800" indent="0">
              <a:buNone/>
              <a:defRPr lang="zh-CN" sz="18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5pPr>
          </a:lstStyle>
          <a:p>
            <a:pPr lvl="0" rtl="0"/>
            <a:r>
              <a:rPr lang="zh-CN"/>
              <a:t>单击此处添加文本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zh-CN" sz="4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</a:t>
            </a:r>
          </a:p>
        </p:txBody>
      </p:sp>
      <p:sp>
        <p:nvSpPr>
          <p:cNvPr id="675" name="文本占位符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zh-CN" sz="28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457200" indent="0">
              <a:lnSpc>
                <a:spcPts val="2400"/>
              </a:lnSpc>
              <a:buNone/>
              <a:defRPr lang="zh-CN" sz="2000"/>
            </a:lvl2pPr>
            <a:lvl3pPr marL="914400" indent="0">
              <a:lnSpc>
                <a:spcPts val="2400"/>
              </a:lnSpc>
              <a:buNone/>
              <a:defRPr lang="zh-CN" sz="2000"/>
            </a:lvl3pPr>
            <a:lvl4pPr marL="1371600" indent="0">
              <a:lnSpc>
                <a:spcPts val="2400"/>
              </a:lnSpc>
              <a:buNone/>
              <a:defRPr lang="zh-CN" sz="2000"/>
            </a:lvl4pPr>
            <a:lvl5pPr marL="1828800" indent="0">
              <a:lnSpc>
                <a:spcPts val="2400"/>
              </a:lnSpc>
              <a:buNone/>
              <a:defRPr lang="zh-CN" sz="2000"/>
            </a:lvl5pPr>
          </a:lstStyle>
          <a:p>
            <a:pPr lvl="0" rtl="0"/>
            <a:r>
              <a:rPr lang="zh-CN"/>
              <a:t>单击此处添加文本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zh-CN" sz="28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zh-CN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5pPr>
            <a:lvl6pPr marL="1600200"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6pPr>
          </a:lstStyle>
          <a:p>
            <a:pPr lvl="0" rtl="0"/>
            <a:r>
              <a:rPr lang="zh-CN"/>
              <a:t>单击此处添加内容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4" rtl="0"/>
            <a:r>
              <a:rPr lang="zh-CN"/>
              <a:t>第四级</a:t>
            </a:r>
          </a:p>
          <a:p>
            <a:pPr lvl="5" rtl="0"/>
            <a:r>
              <a:rPr lang="zh-CN"/>
              <a:t>第五级</a:t>
            </a:r>
          </a:p>
        </p:txBody>
      </p:sp>
      <p:sp>
        <p:nvSpPr>
          <p:cNvPr id="11" name="内容占位符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5pPr>
          </a:lstStyle>
          <a:p>
            <a:pPr lvl="0" rtl="0"/>
            <a:r>
              <a:rPr lang="zh-CN"/>
              <a:t>单击此处添加内容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zh-CN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n-US" altLang="zh-CN" smtClean="0"/>
              <a:pPr rtl="0"/>
              <a:t>‹#›</a:t>
            </a:fld>
            <a:endParaRPr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>
            <a:normAutofit/>
          </a:bodyPr>
          <a:lstStyle>
            <a:lvl1pPr algn="r"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CN" altLang="en-US"/>
              <a:t>演示文稿标题</a:t>
            </a:r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内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zh-CN" sz="28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5pPr>
          </a:lstStyle>
          <a:p>
            <a:pPr lvl="0" rtl="0"/>
            <a:r>
              <a:rPr lang="zh-CN"/>
              <a:t>单击此处添加内容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</a:p>
        </p:txBody>
      </p:sp>
      <p:sp>
        <p:nvSpPr>
          <p:cNvPr id="11" name="内容占位符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5pPr>
          </a:lstStyle>
          <a:p>
            <a:pPr lvl="0" rtl="0"/>
            <a:r>
              <a:rPr lang="zh-CN"/>
              <a:t>单击此处添加内容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zh-CN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n-US" altLang="zh-CN" smtClean="0"/>
              <a:pPr rtl="0"/>
              <a:t>‹#›</a:t>
            </a:fld>
            <a:endParaRPr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>
            <a:normAutofit/>
          </a:bodyPr>
          <a:lstStyle>
            <a:lvl1pPr algn="r"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CN" altLang="en-US"/>
              <a:t>演示文稿标题</a:t>
            </a:r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、内容和图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长方形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zh-CN" sz="28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单击此处添加标题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zh-CN" sz="18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zh-CN" sz="16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zh-CN" sz="14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zh-CN" sz="1400"/>
            </a:lvl5pPr>
          </a:lstStyle>
          <a:p>
            <a:pPr lvl="0" rtl="0"/>
            <a:r>
              <a:rPr lang="zh-CN" altLang="en-US" noProof="0"/>
              <a:t>单击此处添加文本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</p:txBody>
      </p:sp>
      <p:sp>
        <p:nvSpPr>
          <p:cNvPr id="5" name="幻灯片编号占位符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zh-CN" sz="1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>
              <a:latin typeface="Microsoft YaHei UI" panose="020B0503020204020204" pitchFamily="34" charset="-122"/>
            </a:endParaRPr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zh-CN" sz="28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zh-CN" sz="18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zh-CN" sz="16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zh-CN" sz="14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zh-CN" sz="1400"/>
            </a:lvl5pPr>
          </a:lstStyle>
          <a:p>
            <a:pPr lvl="0" rtl="0"/>
            <a:r>
              <a:rPr lang="zh-CN"/>
              <a:t>单击此处添加文本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>
              <a:spcBef>
                <a:spcPts val="0"/>
              </a:spcBef>
              <a:spcAft>
                <a:spcPts val="600"/>
              </a:spcAft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4pPr>
            <a:lvl5pPr>
              <a:spcBef>
                <a:spcPts val="0"/>
              </a:spcBef>
              <a:spcAft>
                <a:spcPts val="6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5pPr>
          </a:lstStyle>
          <a:p>
            <a:pPr lvl="0" rtl="0"/>
            <a:r>
              <a:rPr lang="zh-CN"/>
              <a:t>单击此处添加内容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</a:p>
        </p:txBody>
      </p:sp>
      <p:sp>
        <p:nvSpPr>
          <p:cNvPr id="5" name="幻灯片编号占位符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zh-CN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n-US" altLang="zh-CN" smtClean="0"/>
              <a:pPr rtl="0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汇总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zh-CN" sz="28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</a:t>
            </a:r>
          </a:p>
        </p:txBody>
      </p:sp>
      <p:sp>
        <p:nvSpPr>
          <p:cNvPr id="11" name="内容占位符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5pPr>
          </a:lstStyle>
          <a:p>
            <a:pPr lvl="0" rtl="0"/>
            <a:r>
              <a:rPr lang="zh-CN"/>
              <a:t>单击此处添加内容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5pPr>
          </a:lstStyle>
          <a:p>
            <a:pPr lvl="0" rtl="0"/>
            <a:r>
              <a:rPr lang="zh-CN"/>
              <a:t>单击此处添加内容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zh-CN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n-US" altLang="zh-CN" smtClean="0"/>
              <a:pPr rtl="0"/>
              <a:t>‹#›</a:t>
            </a:fld>
            <a:endParaRPr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>
            <a:normAutofit/>
          </a:bodyPr>
          <a:lstStyle>
            <a:lvl1pPr algn="r"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CN" altLang="en-US"/>
              <a:t>演示文稿标题</a:t>
            </a:r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zh-CN" sz="28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</a:t>
            </a:r>
          </a:p>
        </p:txBody>
      </p:sp>
      <p:sp>
        <p:nvSpPr>
          <p:cNvPr id="11" name="内容占位符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5pPr>
          </a:lstStyle>
          <a:p>
            <a:pPr lvl="0" rtl="0"/>
            <a:r>
              <a:rPr lang="zh-CN"/>
              <a:t>单击此处添加内容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zh-CN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en-US" altLang="zh-CN" smtClean="0"/>
              <a:pPr rtl="0"/>
              <a:t>‹#›</a:t>
            </a:fld>
            <a:endParaRPr 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>
            <a:normAutofit/>
          </a:bodyPr>
          <a:lstStyle>
            <a:lvl1pPr algn="r"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CN" altLang="en-US"/>
              <a:t>演示文稿标题</a:t>
            </a:r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谢谢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zh-CN" sz="4000" baseline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5pPr>
          </a:lstStyle>
          <a:p>
            <a:pPr lvl="0" rtl="0"/>
            <a:r>
              <a:rPr lang="zh-CN"/>
              <a:t>单击此处添加文本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 </a:t>
            </a:r>
          </a:p>
          <a:p>
            <a:pPr lvl="3" rtl="0"/>
            <a:r>
              <a:rPr lang="zh-CN"/>
              <a:t>第四级 </a:t>
            </a:r>
          </a:p>
          <a:p>
            <a:pPr lvl="4" rtl="0"/>
            <a:r>
              <a:rPr lang="zh-CN"/>
              <a:t>第五级 </a:t>
            </a:r>
          </a:p>
          <a:p>
            <a:pPr lvl="0" rtl="0"/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zh-CN" sz="4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/>
              <a:t>单击此处添加标题</a:t>
            </a:r>
          </a:p>
        </p:txBody>
      </p:sp>
      <p:grpSp>
        <p:nvGrpSpPr>
          <p:cNvPr id="815" name="组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0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defRPr>
            </a:lvl1pPr>
          </a:lstStyle>
          <a:p>
            <a:r>
              <a:rPr lang="zh-CN" altLang="en-US"/>
              <a:t>演示文稿标题</a:t>
            </a:r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6" name="幻灯片编号占位符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000" b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5CEABB6-07DC-46E8-9B57-56EC44A396E5}" type="slidenum">
              <a:rPr lang="en-US" altLang="zh-CN" noProof="0" smtClean="0"/>
              <a:pPr/>
              <a:t>‹#›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sz="3800" b="1" kern="1200" cap="all" baseline="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sz="2800" kern="1200">
          <a:solidFill>
            <a:schemeClr val="tx1"/>
          </a:solidFill>
          <a:latin typeface="Microsoft YaHei UI Light" panose="020B0502040204020203" pitchFamily="34" charset="-122"/>
          <a:ea typeface="Microsoft YaHei UI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400" kern="1200">
          <a:solidFill>
            <a:schemeClr val="tx1"/>
          </a:solidFill>
          <a:latin typeface="Microsoft YaHei UI Light" panose="020B0502040204020203" pitchFamily="34" charset="-122"/>
          <a:ea typeface="Microsoft YaHei UI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000" kern="1200">
          <a:solidFill>
            <a:schemeClr val="tx1"/>
          </a:solidFill>
          <a:latin typeface="Microsoft YaHei UI Light" panose="020B0502040204020203" pitchFamily="34" charset="-122"/>
          <a:ea typeface="Microsoft YaHei UI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Microsoft YaHei UI Light" panose="020B0502040204020203" pitchFamily="34" charset="-122"/>
          <a:ea typeface="Microsoft YaHei UI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Microsoft YaHei UI Light" panose="020B0502040204020203" pitchFamily="34" charset="-122"/>
          <a:ea typeface="Microsoft YaHei UI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1184" y="1838131"/>
            <a:ext cx="8630816" cy="536144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r>
              <a:rPr lang="en-US" altLang="zh-CN" sz="2400" dirty="0"/>
              <a:t>Physics-Informed Neural Network (PINN)</a:t>
            </a:r>
            <a:endParaRPr lang="zh-CN" sz="2400" dirty="0"/>
          </a:p>
        </p:txBody>
      </p:sp>
      <p:sp>
        <p:nvSpPr>
          <p:cNvPr id="2" name="标题 2">
            <a:extLst>
              <a:ext uri="{FF2B5EF4-FFF2-40B4-BE49-F238E27FC236}">
                <a16:creationId xmlns:a16="http://schemas.microsoft.com/office/drawing/2014/main" id="{DD47639F-41EE-F7C9-62E7-C46D7C314B49}"/>
              </a:ext>
            </a:extLst>
          </p:cNvPr>
          <p:cNvSpPr txBox="1">
            <a:spLocks/>
          </p:cNvSpPr>
          <p:nvPr/>
        </p:nvSpPr>
        <p:spPr>
          <a:xfrm>
            <a:off x="7595118" y="4478694"/>
            <a:ext cx="4596882" cy="17660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40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fr-FR" altLang="zh-CN" sz="2400" err="1"/>
              <a:t>Based</a:t>
            </a:r>
            <a:r>
              <a:rPr lang="fr-FR" altLang="zh-CN" sz="2400"/>
              <a:t> on:</a:t>
            </a:r>
            <a:br>
              <a:rPr lang="fr-FR" altLang="zh-CN" sz="2400"/>
            </a:br>
            <a:r>
              <a:rPr lang="en-US" altLang="zh-CN" sz="2400"/>
              <a:t>A PINN framework for generic bioreactor modelling</a:t>
            </a:r>
          </a:p>
          <a:p>
            <a:endParaRPr lang="en-US" altLang="zh-CN" sz="2400"/>
          </a:p>
          <a:p>
            <a:r>
              <a:rPr lang="en-US" altLang="zh-CN" sz="2400"/>
              <a:t>Pre by : </a:t>
            </a:r>
          </a:p>
          <a:p>
            <a:r>
              <a:rPr lang="en-US" altLang="zh-CN" sz="2400"/>
              <a:t>WANG Zezhong &amp; ZHAO Yuxi</a:t>
            </a:r>
            <a:endParaRPr lang="zh-cn" altLang="zh-CN" sz="2400"/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070D4065-2F7B-4020-6E2F-01E635FCA158}"/>
              </a:ext>
            </a:extLst>
          </p:cNvPr>
          <p:cNvSpPr txBox="1">
            <a:spLocks/>
          </p:cNvSpPr>
          <p:nvPr/>
        </p:nvSpPr>
        <p:spPr>
          <a:xfrm>
            <a:off x="5215812" y="2577032"/>
            <a:ext cx="6976188" cy="10547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40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005F0-BDB4-BD6E-E176-94DEC363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452776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Back Ground definition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6FCAC96B-1BD0-3FF8-0B4E-5AF4781D4D9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541312" y="857397"/>
                <a:ext cx="10739336" cy="57543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/>
                  <a:t>Stirred-Tank Fed-Batch Bioreactor</a:t>
                </a:r>
              </a:p>
              <a:p>
                <a:pPr marL="0" indent="0">
                  <a:buNone/>
                </a:pPr>
                <a:r>
                  <a:rPr lang="en-US" altLang="zh-CN"/>
                  <a:t>A generic perfectly mixed fed-batch bioreactor is described by mass balances: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𝑑𝐶</m:t>
                        </m:r>
                      </m:num>
                      <m:den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𝑆𝑟</m:t>
                    </m:r>
                    <m:d>
                      <m:dPr>
                        <m:sepChr m:val=","/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ar-AE" altLang="zh-CN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𝐷𝐶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altLang="zh-CN"/>
                  <a:t>        </a:t>
                </a:r>
                <a:r>
                  <a:rPr lang="zh-CN" altLang="en-US"/>
                  <a:t>（</a:t>
                </a:r>
                <a:r>
                  <a:rPr lang="en-US" altLang="zh-CN"/>
                  <a:t>1</a:t>
                </a:r>
                <a:r>
                  <a:rPr lang="zh-CN" altLang="en-US"/>
                  <a:t>）</a:t>
                </a:r>
                <a:endParaRPr lang="ar-AE" altLang="zh-CN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ar-AE" altLang="zh-CN"/>
              </a:p>
              <a:p>
                <a:pPr marL="0" indent="0">
                  <a:buNone/>
                </a:pPr>
                <a:r>
                  <a:rPr lang="en-US" altLang="zh-CN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zh-CN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altLang="zh-CN"/>
                  <a:t>: </a:t>
                </a:r>
                <a:r>
                  <a:rPr lang="en-US" altLang="zh-CN"/>
                  <a:t>state vector (biomass, substrate, products, etc.)</a:t>
                </a: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sepChr m:val=","/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ar-AE" altLang="zh-CN"/>
                  <a:t>: </a:t>
                </a:r>
                <a:r>
                  <a:rPr lang="en-US" altLang="zh-CN"/>
                  <a:t>reaction kinetics</a:t>
                </a: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/>
                  <a:t>: stoichiometric matrix</a:t>
                </a:r>
              </a:p>
              <a:p>
                <a:r>
                  <a:rPr lang="en-US" altLang="zh-CN"/>
                  <a:t>F :</a:t>
                </a:r>
                <a:r>
                  <a:rPr lang="zh-CN" altLang="en-US"/>
                  <a:t> </a:t>
                </a:r>
                <a:r>
                  <a:rPr lang="en-US" altLang="zh-CN"/>
                  <a:t>Feed rate</a:t>
                </a: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r>
                  <a:rPr lang="ar-AE" altLang="zh-CN"/>
                  <a:t>: </a:t>
                </a:r>
                <a:r>
                  <a:rPr lang="en-US" altLang="zh-CN"/>
                  <a:t>dilution rate 		    (2)</a:t>
                </a: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altLang="zh-CN"/>
                  <a:t>: </a:t>
                </a:r>
                <a:r>
                  <a:rPr lang="en-US" altLang="zh-CN"/>
                  <a:t>control inputs (feed rate, temperature, etc.)</a:t>
                </a: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/>
                  <a:t>: reactor volume</a:t>
                </a:r>
              </a:p>
              <a:p>
                <a:endParaRPr lang="en-US" altLang="zh-CN"/>
              </a:p>
            </p:txBody>
          </p:sp>
        </mc:Choice>
        <mc:Fallback xmlns="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6FCAC96B-1BD0-3FF8-0B4E-5AF4781D4D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541312" y="857397"/>
                <a:ext cx="10739336" cy="5754350"/>
              </a:xfrm>
              <a:blipFill>
                <a:blip r:embed="rId3"/>
                <a:stretch>
                  <a:fillRect l="-624" t="-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F78263-5EA8-BF1E-B267-18A80283D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2</a:t>
            </a:fld>
            <a:endParaRPr 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78230C-0753-CF98-DFC1-8A0487F3CC87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230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005F0-BDB4-BD6E-E176-94DEC363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452776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Traditional Approaches &amp; Limitations 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6FCAC96B-1BD0-3FF8-0B4E-5AF4781D4D9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726332" y="1032458"/>
                <a:ext cx="5369668" cy="54276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/>
                  <a:t>The main idea</a:t>
                </a:r>
              </a:p>
              <a:p>
                <a:r>
                  <a:rPr lang="en-US" altLang="zh-CN"/>
                  <a:t>Based on ODEs: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zh-CN" altLang="ar-AE" i="1">
                              <a:latin typeface="Cambria Math" panose="02040503050406030204" pitchFamily="18" charset="0"/>
                              <a:ea typeface="Microsoft YaHei UI" panose="020B0503020204020204" pitchFamily="34" charset="-122"/>
                            </a:rPr>
                          </m:ctrlPr>
                        </m:fPr>
                        <m:num>
                          <m:r>
                            <a:rPr lang="zh-CN" altLang="ar-AE" i="1">
                              <a:latin typeface="Cambria Math" panose="02040503050406030204" pitchFamily="18" charset="0"/>
                              <a:ea typeface="Microsoft YaHei UI" panose="020B0503020204020204" pitchFamily="34" charset="-122"/>
                            </a:rPr>
                            <m:t>𝑑𝑋</m:t>
                          </m:r>
                        </m:num>
                        <m:den>
                          <m:r>
                            <a:rPr lang="zh-CN" altLang="ar-AE" i="1">
                              <a:latin typeface="Cambria Math" panose="02040503050406030204" pitchFamily="18" charset="0"/>
                              <a:ea typeface="Microsoft YaHei UI" panose="020B0503020204020204" pitchFamily="34" charset="-122"/>
                            </a:rPr>
                            <m:t>𝑑𝑡</m:t>
                          </m:r>
                        </m:den>
                      </m:f>
                      <m:r>
                        <a:rPr lang="ar-AE" altLang="zh-CN">
                          <a:latin typeface="Cambria Math" panose="02040503050406030204" pitchFamily="18" charset="0"/>
                          <a:ea typeface="Microsoft YaHei UI" panose="020B0503020204020204" pitchFamily="34" charset="-122"/>
                        </a:rPr>
                        <m:t>=</m:t>
                      </m:r>
                      <m:r>
                        <a:rPr lang="zh-CN" altLang="ar-AE" i="1">
                          <a:latin typeface="Cambria Math" panose="02040503050406030204" pitchFamily="18" charset="0"/>
                          <a:ea typeface="Microsoft YaHei UI" panose="020B0503020204020204" pitchFamily="34" charset="-122"/>
                        </a:rPr>
                        <m:t>𝑓</m:t>
                      </m:r>
                      <m:d>
                        <m:dPr>
                          <m:sepChr m:val=","/>
                          <m:ctrlPr>
                            <a:rPr lang="zh-CN" altLang="ar-AE" i="1">
                              <a:latin typeface="Cambria Math" panose="02040503050406030204" pitchFamily="18" charset="0"/>
                              <a:ea typeface="Microsoft YaHei UI" panose="020B0503020204020204" pitchFamily="34" charset="-122"/>
                            </a:rPr>
                          </m:ctrlPr>
                        </m:dPr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  <a:ea typeface="Microsoft YaHei UI" panose="020B0503020204020204" pitchFamily="34" charset="-122"/>
                            </a:rPr>
                            <m:t>𝑋</m:t>
                          </m:r>
                        </m:e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  <a:ea typeface="Microsoft YaHei UI" panose="020B0503020204020204" pitchFamily="34" charset="-122"/>
                            </a:rPr>
                            <m:t>𝑡</m:t>
                          </m:r>
                        </m:e>
                        <m:e>
                          <m:r>
                            <a:rPr lang="zh-CN" altLang="ar-AE" i="1">
                              <a:latin typeface="Cambria Math" panose="02040503050406030204" pitchFamily="18" charset="0"/>
                              <a:ea typeface="Microsoft YaHei UI" panose="020B0503020204020204" pitchFamily="34" charset="-122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altLang="zh-CN"/>
              </a:p>
              <a:p>
                <a:pPr marL="0" indent="0">
                  <a:buNone/>
                </a:pPr>
                <a:r>
                  <a:rPr lang="en-US" altLang="zh-CN"/>
                  <a:t>Advantages:</a:t>
                </a:r>
              </a:p>
              <a:p>
                <a:r>
                  <a:rPr lang="en-US" altLang="zh-CN"/>
                  <a:t>Interpretable parameters</a:t>
                </a:r>
              </a:p>
              <a:p>
                <a:r>
                  <a:rPr lang="en-US" altLang="zh-CN"/>
                  <a:t>Physically consistent</a:t>
                </a:r>
              </a:p>
              <a:p>
                <a:r>
                  <a:rPr lang="en-US" altLang="zh-CN"/>
                  <a:t>Low data requirement</a:t>
                </a:r>
              </a:p>
              <a:p>
                <a:pPr marL="0" indent="0">
                  <a:buNone/>
                </a:pPr>
                <a:r>
                  <a:rPr lang="en-US" altLang="zh-CN"/>
                  <a:t>Limitations:</a:t>
                </a:r>
              </a:p>
              <a:p>
                <a:r>
                  <a:rPr lang="en-US" altLang="zh-CN"/>
                  <a:t>Model mismatch</a:t>
                </a:r>
              </a:p>
              <a:p>
                <a:r>
                  <a:rPr lang="en-US" altLang="zh-CN"/>
                  <a:t>Difficult parameter estimation</a:t>
                </a:r>
              </a:p>
              <a:p>
                <a:r>
                  <a:rPr lang="en-US" altLang="zh-CN"/>
                  <a:t>Sensitive to noise</a:t>
                </a:r>
              </a:p>
              <a:p>
                <a:pPr marL="0" indent="0">
                  <a:buNone/>
                </a:pPr>
                <a:endParaRPr lang="zh-CN" altLang="en-US"/>
              </a:p>
              <a:p>
                <a:pPr marL="0" indent="0">
                  <a:buNone/>
                </a:pPr>
                <a:endParaRPr lang="en-US" altLang="zh-CN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本占位符 2">
                <a:extLst>
                  <a:ext uri="{FF2B5EF4-FFF2-40B4-BE49-F238E27FC236}">
                    <a16:creationId xmlns:a16="http://schemas.microsoft.com/office/drawing/2014/main" id="{6FCAC96B-1BD0-3FF8-0B4E-5AF4781D4D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726332" y="1032458"/>
                <a:ext cx="5369668" cy="5427650"/>
              </a:xfrm>
              <a:blipFill>
                <a:blip r:embed="rId3"/>
                <a:stretch>
                  <a:fillRect l="-1135" t="-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F78263-5EA8-BF1E-B267-18A80283D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3</a:t>
            </a:fld>
            <a:endParaRPr 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78230C-0753-CF98-DFC1-8A0487F3CC87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9E8720B7-8DB5-3236-9A7E-058990F3C12C}"/>
              </a:ext>
            </a:extLst>
          </p:cNvPr>
          <p:cNvSpPr txBox="1">
            <a:spLocks/>
          </p:cNvSpPr>
          <p:nvPr/>
        </p:nvSpPr>
        <p:spPr>
          <a:xfrm>
            <a:off x="911351" y="514806"/>
            <a:ext cx="10773967" cy="4527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 sz="2000"/>
              <a:t>Classical mechanistic modeling		Pure data-driven neural networks</a:t>
            </a: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0B64009D-EE9D-A800-E611-5D33C5303387}"/>
              </a:ext>
            </a:extLst>
          </p:cNvPr>
          <p:cNvSpPr txBox="1">
            <a:spLocks/>
          </p:cNvSpPr>
          <p:nvPr/>
        </p:nvSpPr>
        <p:spPr>
          <a:xfrm>
            <a:off x="6301632" y="1011250"/>
            <a:ext cx="5776068" cy="54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1pPr>
            <a:lvl2pPr marL="8001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2pPr>
            <a:lvl3pPr marL="12573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3pPr>
            <a:lvl4pPr marL="17145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4pPr>
            <a:lvl5pPr marL="21717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BCDBE5B7-62F9-B7BA-08BA-5DC8D7A51144}"/>
              </a:ext>
            </a:extLst>
          </p:cNvPr>
          <p:cNvSpPr txBox="1">
            <a:spLocks/>
          </p:cNvSpPr>
          <p:nvPr/>
        </p:nvSpPr>
        <p:spPr>
          <a:xfrm>
            <a:off x="6504832" y="1001534"/>
            <a:ext cx="5369668" cy="5427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1pPr>
            <a:lvl2pPr marL="8001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2pPr>
            <a:lvl3pPr marL="12573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3pPr>
            <a:lvl4pPr marL="17145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4pPr>
            <a:lvl5pPr marL="21717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The main idea</a:t>
            </a:r>
          </a:p>
          <a:p>
            <a:pPr marL="0" indent="0">
              <a:buNone/>
            </a:pPr>
            <a:r>
              <a:rPr lang="en-US" altLang="zh-CN"/>
              <a:t>X(t)=</a:t>
            </a:r>
            <a:r>
              <a:rPr lang="en-US" altLang="zh-CN" err="1"/>
              <a:t>Nθ</a:t>
            </a:r>
            <a:r>
              <a:rPr lang="en-US" altLang="zh-CN"/>
              <a:t>​(t) </a:t>
            </a:r>
          </a:p>
          <a:p>
            <a:pPr marL="0" indent="0">
              <a:buNone/>
            </a:pPr>
            <a:r>
              <a:rPr lang="en-US" altLang="zh-CN"/>
              <a:t>Advantages:</a:t>
            </a:r>
          </a:p>
          <a:p>
            <a:r>
              <a:rPr lang="en-US" altLang="zh-CN"/>
              <a:t>Strong fitting capability</a:t>
            </a:r>
          </a:p>
          <a:p>
            <a:r>
              <a:rPr lang="en-US" altLang="zh-CN"/>
              <a:t>No need for explicit equations</a:t>
            </a:r>
          </a:p>
          <a:p>
            <a:pPr marL="0" indent="0">
              <a:buNone/>
            </a:pPr>
            <a:r>
              <a:rPr lang="en-US" altLang="zh-CN"/>
              <a:t>Limitations:</a:t>
            </a:r>
          </a:p>
          <a:p>
            <a:r>
              <a:rPr lang="en-US" altLang="zh-CN"/>
              <a:t>No physical guarantee</a:t>
            </a:r>
          </a:p>
          <a:p>
            <a:r>
              <a:rPr lang="en-US" altLang="zh-CN"/>
              <a:t>Poor extrapolation</a:t>
            </a:r>
          </a:p>
          <a:p>
            <a:r>
              <a:rPr lang="en-US" altLang="zh-CN"/>
              <a:t>Large data requirement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n-US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i="1">
              <a:latin typeface="Cambria Math" panose="020405030504060302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63EDA1-1CD7-C6A8-1BFA-74A0228F4DE1}"/>
              </a:ext>
            </a:extLst>
          </p:cNvPr>
          <p:cNvSpPr txBox="1"/>
          <p:nvPr/>
        </p:nvSpPr>
        <p:spPr>
          <a:xfrm>
            <a:off x="4218874" y="5782853"/>
            <a:ext cx="7172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Can we combine physical laws and neural networks in a unified framework?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86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8E6A0D8-94FC-3E6C-18F4-257410B66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8300" y="-527285"/>
            <a:ext cx="8432799" cy="3316893"/>
          </a:xfrm>
        </p:spPr>
        <p:txBody>
          <a:bodyPr>
            <a:normAutofit/>
          </a:bodyPr>
          <a:lstStyle/>
          <a:p>
            <a:r>
              <a:rPr lang="en-US" altLang="zh-CN" sz="3600"/>
              <a:t>Introducing PINNs</a:t>
            </a:r>
            <a:endParaRPr lang="zh-CN" altLang="en-US" sz="360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E8F160B-C547-73F9-AB84-94AE303346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A6B57F-E2A9-F848-0C29-EC17933ABE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46813"/>
            <a:ext cx="2670175" cy="365125"/>
          </a:xfrm>
        </p:spPr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4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886270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BEB11BF-20E7-3257-4D5C-3C15886E3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575182"/>
          </a:xfrm>
        </p:spPr>
        <p:txBody>
          <a:bodyPr/>
          <a:lstStyle/>
          <a:p>
            <a:r>
              <a:rPr lang="en-US" altLang="zh-CN"/>
              <a:t>Main Idea</a:t>
            </a:r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946BBAC-729F-1428-A69A-0EB2F21E82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300" y="1308101"/>
            <a:ext cx="11455400" cy="17557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A Physics-Informed Neural Network (PINN) combines:</a:t>
            </a:r>
          </a:p>
          <a:p>
            <a:r>
              <a:rPr lang="en-US" altLang="zh-CN"/>
              <a:t>Data fitting</a:t>
            </a:r>
          </a:p>
          <a:p>
            <a:r>
              <a:rPr lang="en-US" altLang="zh-CN"/>
              <a:t>Physical laws (ODEs or PDEs)</a:t>
            </a:r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6F538CE0-B936-AF9F-1E6E-539A3C7BF02F}"/>
              </a:ext>
            </a:extLst>
          </p:cNvPr>
          <p:cNvSpPr txBox="1">
            <a:spLocks/>
          </p:cNvSpPr>
          <p:nvPr/>
        </p:nvSpPr>
        <p:spPr>
          <a:xfrm>
            <a:off x="804164" y="690309"/>
            <a:ext cx="10405174" cy="5751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4">
                <a:extLst>
                  <a:ext uri="{FF2B5EF4-FFF2-40B4-BE49-F238E27FC236}">
                    <a16:creationId xmlns:a16="http://schemas.microsoft.com/office/drawing/2014/main" id="{729E23EF-8498-1623-6CA7-5D3A66D7EC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7951" y="3707191"/>
                <a:ext cx="4952194" cy="1842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defPPr>
                  <a:defRPr lang="zh-CN"/>
                </a:defPPr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b="1"/>
                  <a:t>Standard Neural Network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altLang="zh-CN"/>
              </a:p>
              <a:p>
                <a:pPr marL="0" indent="0">
                  <a:buNone/>
                </a:pPr>
                <a:r>
                  <a:rPr lang="en-US" altLang="zh-CN"/>
                  <a:t>Loss: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ar-AE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∣"/>
                                <m:endChr m:val="∣"/>
                                <m:ctrlPr>
                                  <a:rPr lang="ar-AE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zh-CN" altLang="ar-AE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ar-AE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zh-CN" altLang="ar-AE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ar-AE" altLang="zh-C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ar-AE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zh-CN" altLang="ar-AE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ar-AE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ar-AE" altLang="zh-CN"/>
              </a:p>
            </p:txBody>
          </p:sp>
        </mc:Choice>
        <mc:Fallback xmlns="">
          <p:sp>
            <p:nvSpPr>
              <p:cNvPr id="2" name="内容占位符 4">
                <a:extLst>
                  <a:ext uri="{FF2B5EF4-FFF2-40B4-BE49-F238E27FC236}">
                    <a16:creationId xmlns:a16="http://schemas.microsoft.com/office/drawing/2014/main" id="{729E23EF-8498-1623-6CA7-5D3A66D7E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51" y="3707191"/>
                <a:ext cx="4952194" cy="1842707"/>
              </a:xfrm>
              <a:prstGeom prst="rect">
                <a:avLst/>
              </a:prstGeom>
              <a:blipFill>
                <a:blip r:embed="rId3"/>
                <a:stretch>
                  <a:fillRect l="-1107" t="-49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4">
                <a:extLst>
                  <a:ext uri="{FF2B5EF4-FFF2-40B4-BE49-F238E27FC236}">
                    <a16:creationId xmlns:a16="http://schemas.microsoft.com/office/drawing/2014/main" id="{F06FE6BC-64D6-38C9-52AE-F2F77CEE8E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73468" y="2648197"/>
                <a:ext cx="5803737" cy="41372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defPPr>
                  <a:defRPr lang="zh-CN"/>
                </a:defPPr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b="1"/>
                  <a:t>PINN</a:t>
                </a:r>
              </a:p>
              <a:p>
                <a:pPr marL="0" indent="0">
                  <a:buNone/>
                </a:pPr>
                <a:r>
                  <a:rPr lang="en-US" altLang="zh-CN"/>
                  <a:t>Neural network still predicts: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ar-AE" altLang="zh-CN"/>
              </a:p>
              <a:p>
                <a:pPr marL="0" indent="0">
                  <a:buNone/>
                </a:pPr>
                <a:r>
                  <a:rPr lang="en-US" altLang="zh-CN"/>
                  <a:t>But we enforce physics: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num>
                      <m:den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ar-AE" altLang="zh-CN"/>
              </a:p>
              <a:p>
                <a:pPr marL="0" indent="0">
                  <a:buNone/>
                </a:pPr>
                <a:r>
                  <a:rPr lang="en-US" altLang="zh-CN"/>
                  <a:t>Physics residual:</a:t>
                </a: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num>
                      <m:den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ar-AE" altLang="zh-CN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zh-CN"/>
              </a:p>
              <a:p>
                <a:pPr marL="0" indent="0">
                  <a:buNone/>
                </a:pPr>
                <a:r>
                  <a:rPr lang="en-US" altLang="zh-CN" b="1">
                    <a:solidFill>
                      <a:srgbClr val="FF0000"/>
                    </a:solidFill>
                  </a:rPr>
                  <a:t>Total Loss</a:t>
                </a:r>
              </a:p>
              <a:p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ar-AE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ar-AE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ar-AE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ar-AE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zh-CN" altLang="ar-A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𝑦𝑠𝑖𝑐𝑠</m:t>
                        </m:r>
                      </m:sub>
                    </m:sSub>
                  </m:oMath>
                </a14:m>
                <a:endParaRPr lang="ar-AE" altLang="zh-CN"/>
              </a:p>
              <a:p>
                <a:endParaRPr lang="ar-AE" altLang="zh-CN"/>
              </a:p>
            </p:txBody>
          </p:sp>
        </mc:Choice>
        <mc:Fallback xmlns="">
          <p:sp>
            <p:nvSpPr>
              <p:cNvPr id="3" name="内容占位符 4">
                <a:extLst>
                  <a:ext uri="{FF2B5EF4-FFF2-40B4-BE49-F238E27FC236}">
                    <a16:creationId xmlns:a16="http://schemas.microsoft.com/office/drawing/2014/main" id="{F06FE6BC-64D6-38C9-52AE-F2F77CEE8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468" y="2648197"/>
                <a:ext cx="5803737" cy="4137285"/>
              </a:xfrm>
              <a:prstGeom prst="rect">
                <a:avLst/>
              </a:prstGeom>
              <a:blipFill>
                <a:blip r:embed="rId4"/>
                <a:stretch>
                  <a:fillRect l="-945" t="-2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25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BEB11BF-20E7-3257-4D5C-3C15886E3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575182"/>
          </a:xfrm>
        </p:spPr>
        <p:txBody>
          <a:bodyPr/>
          <a:lstStyle/>
          <a:p>
            <a:r>
              <a:rPr lang="en-US" altLang="zh-CN"/>
              <a:t>PINN Formulation for Fed-Batch System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946BBAC-729F-1428-A69A-0EB2F21E82BD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495300" y="1308101"/>
                <a:ext cx="5038601" cy="43445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b="1"/>
                  <a:t>Governing Equations (Logistic Fed-Batch)</a:t>
                </a:r>
              </a:p>
              <a:p>
                <a:r>
                  <a:rPr lang="en-US" altLang="zh-CN" i="1">
                    <a:latin typeface="Cambria Math" panose="02040503050406030204" pitchFamily="18" charset="0"/>
                  </a:rPr>
                  <a:t>x :</a:t>
                </a:r>
                <a:r>
                  <a:rPr lang="zh-CN" altLang="en-US" i="1">
                    <a:latin typeface="Cambria Math" panose="02040503050406030204" pitchFamily="18" charset="0"/>
                  </a:rPr>
                  <a:t> </a:t>
                </a:r>
                <a:r>
                  <a:rPr lang="en-US" altLang="zh-CN" i="1">
                    <a:latin typeface="Cambria Math" panose="02040503050406030204" pitchFamily="18" charset="0"/>
                  </a:rPr>
                  <a:t>Biomass concentration</a:t>
                </a: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d>
                      <m:dPr>
                        <m:ctrlPr>
                          <a:rPr lang="ar-AE" altLang="zh-C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ar-AE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ar-AE" altLang="zh-CN"/>
              </a:p>
              <a:p>
                <a14:m>
                  <m:oMath xmlns:m="http://schemas.openxmlformats.org/officeDocument/2006/math">
                    <m:r>
                      <a:rPr lang="zh-CN" altLang="ar-AE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den>
                    </m:f>
                  </m:oMath>
                </a14:m>
                <a:endParaRPr lang="ar-AE" altLang="zh-CN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𝑑𝑋</m:t>
                        </m:r>
                      </m:num>
                      <m:den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ar-AE" altLang="zh-CN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𝐷𝑋</m:t>
                    </m:r>
                  </m:oMath>
                </a14:m>
                <a:r>
                  <a:rPr lang="en-US" altLang="zh-CN"/>
                  <a:t> 	￫	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𝑋</m:t>
                    </m:r>
                    <m:d>
                      <m:dPr>
                        <m:ctrlPr>
                          <a:rPr lang="zh-CN" altLang="ar-AE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endParaRPr lang="ar-AE" altLang="zh-CN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𝑑𝑉</m:t>
                        </m:r>
                      </m:num>
                      <m:den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/>
                  <a:t>		 ￫	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Microsoft YaHei UI" panose="020B0503020204020204" pitchFamily="34" charset="-122"/>
                      </a:rPr>
                      <m:t>𝑉</m:t>
                    </m:r>
                    <m:d>
                      <m:dPr>
                        <m:ctrlPr>
                          <a:rPr lang="zh-CN" altLang="ar-AE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  <a:ea typeface="Microsoft YaHei UI" panose="020B0503020204020204" pitchFamily="34" charset="-122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/>
                  <a:t> </a:t>
                </a:r>
              </a:p>
              <a:p>
                <a:pPr marL="0" indent="0">
                  <a:buNone/>
                </a:pPr>
                <a:r>
                  <a:rPr lang="en-US" altLang="zh-CN" b="1"/>
                  <a:t>Neural Network Representation</a:t>
                </a:r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zh-CN" i="1"/>
                      <m:t>NN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sepChr m:val=",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  <m:e>
                        <m:d>
                          <m:d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ar-AE" altLang="zh-CN" b="0"/>
              </a:p>
              <a:p>
                <a:endParaRPr lang="ar-AE" altLang="zh-CN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946BBAC-729F-1428-A69A-0EB2F21E82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495300" y="1308101"/>
                <a:ext cx="5038601" cy="4344554"/>
              </a:xfrm>
              <a:blipFill>
                <a:blip r:embed="rId3"/>
                <a:stretch>
                  <a:fillRect l="-1209" t="-1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3">
            <a:extLst>
              <a:ext uri="{FF2B5EF4-FFF2-40B4-BE49-F238E27FC236}">
                <a16:creationId xmlns:a16="http://schemas.microsoft.com/office/drawing/2014/main" id="{6F538CE0-B936-AF9F-1E6E-539A3C7BF02F}"/>
              </a:ext>
            </a:extLst>
          </p:cNvPr>
          <p:cNvSpPr txBox="1">
            <a:spLocks/>
          </p:cNvSpPr>
          <p:nvPr/>
        </p:nvSpPr>
        <p:spPr>
          <a:xfrm>
            <a:off x="804164" y="690309"/>
            <a:ext cx="10405174" cy="5751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4">
                <a:extLst>
                  <a:ext uri="{FF2B5EF4-FFF2-40B4-BE49-F238E27FC236}">
                    <a16:creationId xmlns:a16="http://schemas.microsoft.com/office/drawing/2014/main" id="{AA49C7B0-815D-DE22-2813-E50A50F07E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59637" y="1308101"/>
                <a:ext cx="5038601" cy="43445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defPPr>
                  <a:defRPr lang="zh-CN"/>
                </a:defPPr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lang="zh-CN" sz="2000" kern="1200">
                    <a:solidFill>
                      <a:schemeClr val="tx1"/>
                    </a:solidFill>
                    <a:latin typeface="Microsoft YaHei UI Light" panose="020B0502040204020203" pitchFamily="34" charset="-122"/>
                    <a:ea typeface="Microsoft YaHei UI Light" panose="020B0502040204020203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lang="zh-CN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b="1"/>
                  <a:t>Physics Residuals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num>
                      <m:den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ar-AE" altLang="zh-CN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sSub>
                          <m:sSub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𝐷</m:t>
                        </m:r>
                        <m:sSub>
                          <m:sSub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e>
                    </m:d>
                  </m:oMath>
                </a14:m>
                <a:endParaRPr lang="ar-AE" altLang="zh-CN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d>
                      <m:d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altLang="zh-C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zh-CN" altLang="ar-A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num>
                      <m:den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ar-AE" altLang="zh-CN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ar-AE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altLang="zh-CN"/>
              </a:p>
              <a:p>
                <a:endParaRPr lang="en-US" altLang="zh-CN"/>
              </a:p>
              <a:p>
                <a:pPr marL="0" indent="0">
                  <a:buNone/>
                </a:pPr>
                <a:r>
                  <a:rPr lang="en-US" altLang="zh-CN" b="1"/>
                  <a:t>Total Loss</a:t>
                </a:r>
              </a:p>
              <a:p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zh-C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sSub>
                      <m:sSub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sSup>
                      <m:sSupPr>
                        <m:ctrlPr>
                          <a:rPr lang="ar-AE" altLang="zh-CN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zh-C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ar-AE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nary>
                    <m:sSub>
                      <m:sSubPr>
                        <m:ctrlPr>
                          <a:rPr lang="zh-CN" alt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ar-AE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sSup>
                      <m:sSupPr>
                        <m:ctrlPr>
                          <a:rPr lang="ar-AE" altLang="zh-CN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  <m:sup>
                        <m:r>
                          <a:rPr lang="ar-AE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altLang="zh-CN"/>
              </a:p>
              <a:p>
                <a:endParaRPr lang="ar-AE" altLang="zh-CN"/>
              </a:p>
            </p:txBody>
          </p:sp>
        </mc:Choice>
        <mc:Fallback xmlns="">
          <p:sp>
            <p:nvSpPr>
              <p:cNvPr id="7" name="内容占位符 4">
                <a:extLst>
                  <a:ext uri="{FF2B5EF4-FFF2-40B4-BE49-F238E27FC236}">
                    <a16:creationId xmlns:a16="http://schemas.microsoft.com/office/drawing/2014/main" id="{AA49C7B0-815D-DE22-2813-E50A50F07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637" y="1308101"/>
                <a:ext cx="5038601" cy="4344554"/>
              </a:xfrm>
              <a:prstGeom prst="rect">
                <a:avLst/>
              </a:prstGeom>
              <a:blipFill>
                <a:blip r:embed="rId4"/>
                <a:stretch>
                  <a:fillRect l="-1332" t="-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57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8E6A0D8-94FC-3E6C-18F4-257410B66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680" y="736600"/>
            <a:ext cx="6197600" cy="2053008"/>
          </a:xfrm>
        </p:spPr>
        <p:txBody>
          <a:bodyPr>
            <a:normAutofit/>
          </a:bodyPr>
          <a:lstStyle/>
          <a:p>
            <a:r>
              <a:rPr lang="en-US" altLang="zh-CN" sz="3600"/>
              <a:t>EXPERIMENTAL STUDY</a:t>
            </a:r>
            <a:endParaRPr lang="zh-CN" altLang="en-US" sz="360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E8F160B-C547-73F9-AB84-94AE303346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A6B57F-E2A9-F848-0C29-EC17933ABE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46813"/>
            <a:ext cx="2670175" cy="365125"/>
          </a:xfrm>
        </p:spPr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7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23902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0474819-BA2C-22E7-F5A1-BAB1C68E7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762" y="246253"/>
            <a:ext cx="10404475" cy="637032"/>
          </a:xfrm>
        </p:spPr>
        <p:txBody>
          <a:bodyPr>
            <a:normAutofit/>
          </a:bodyPr>
          <a:lstStyle/>
          <a:p>
            <a:r>
              <a:rPr lang="en-US" altLang="zh-CN">
                <a:latin typeface="Times New Roman"/>
                <a:cs typeface="Times New Roman"/>
              </a:rPr>
              <a:t>EXPERIMENTAL STUDY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7C27DE-E7F5-65B5-8015-D88BB15A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8</a:t>
            </a:fld>
            <a:endParaRPr lang="zh-CN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010FF4-6055-39A5-E783-7829043A9067}"/>
              </a:ext>
            </a:extLst>
          </p:cNvPr>
          <p:cNvSpPr txBox="1">
            <a:spLocks/>
          </p:cNvSpPr>
          <p:nvPr/>
        </p:nvSpPr>
        <p:spPr>
          <a:xfrm>
            <a:off x="893762" y="870573"/>
            <a:ext cx="8297380" cy="4527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sz="2000" b="0">
                <a:latin typeface="Times New Roman"/>
                <a:ea typeface="Microsoft YaHei UI"/>
                <a:cs typeface="Times New Roman"/>
              </a:rPr>
              <a:t>Data source &amp; measured variables</a:t>
            </a:r>
            <a:endParaRPr lang="zh-CN" altLang="en-US">
              <a:cs typeface="Times New Roman"/>
            </a:endParaRP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5B998654-FDEB-6C86-74C8-56D03F2858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4060" y="1311276"/>
            <a:ext cx="10406945" cy="4449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>
                <a:latin typeface="Times New Roman"/>
                <a:ea typeface="Microsoft YaHei UI Light"/>
                <a:cs typeface="Times New Roman"/>
              </a:rPr>
              <a:t>Data are taken from data.csv</a:t>
            </a:r>
            <a:r>
              <a:rPr lang="en-US" altLang="zh-CN">
                <a:latin typeface="Times New Roman"/>
                <a:ea typeface="Microsoft YaHei UI Light"/>
                <a:cs typeface="Times New Roman"/>
              </a:rPr>
              <a:t>[1]</a:t>
            </a:r>
            <a:r>
              <a:rPr lang="zh-CN">
                <a:latin typeface="Times New Roman"/>
                <a:ea typeface="Microsoft YaHei UI Light"/>
                <a:cs typeface="Times New Roman"/>
              </a:rPr>
              <a:t> containing multi-batch fed-batch experiments.</a:t>
            </a:r>
          </a:p>
          <a:p>
            <a:r>
              <a:rPr lang="zh-CN">
                <a:latin typeface="Times New Roman"/>
                <a:ea typeface="Microsoft YaHei UI Light"/>
                <a:cs typeface="Times New Roman"/>
              </a:rPr>
              <a:t>Each sample includes time t hours, noisy measurements X,S,Pt,Pm,V and the input feed rate F.</a:t>
            </a:r>
          </a:p>
          <a:p>
            <a:r>
              <a:rPr lang="zh-CN">
                <a:latin typeface="Times New Roman"/>
                <a:ea typeface="Microsoft YaHei UI Light"/>
                <a:cs typeface="Times New Roman"/>
              </a:rPr>
              <a:t>X</a:t>
            </a:r>
            <a:r>
              <a:rPr lang="zh-CN" altLang="en-US">
                <a:latin typeface="Times New Roman"/>
                <a:ea typeface="Microsoft YaHei UI Light"/>
                <a:cs typeface="Times New Roman"/>
              </a:rPr>
              <a:t> </a:t>
            </a:r>
            <a:r>
              <a:rPr lang="en-US" altLang="zh-CN">
                <a:latin typeface="Times New Roman"/>
                <a:ea typeface="Microsoft YaHei UI Light"/>
                <a:cs typeface="Times New Roman"/>
              </a:rPr>
              <a:t>(</a:t>
            </a:r>
            <a:r>
              <a:rPr lang="en-US">
                <a:latin typeface="Times New Roman"/>
                <a:ea typeface="Microsoft YaHei UI Light"/>
                <a:cs typeface="Times New Roman"/>
              </a:rPr>
              <a:t>g/L)</a:t>
            </a:r>
            <a:r>
              <a:rPr lang="zh-CN">
                <a:latin typeface="Times New Roman"/>
                <a:ea typeface="Microsoft YaHei UI Light"/>
                <a:cs typeface="Times New Roman"/>
              </a:rPr>
              <a:t>: Biomass concentration</a:t>
            </a:r>
            <a:r>
              <a:rPr lang="zh-CN" altLang="en-US">
                <a:latin typeface="Times New Roman"/>
                <a:ea typeface="Microsoft YaHei UI Light"/>
                <a:cs typeface="Times New Roman"/>
              </a:rPr>
              <a:t>                         </a:t>
            </a:r>
            <a:r>
              <a:rPr lang="zh-CN">
                <a:latin typeface="Times New Roman"/>
                <a:ea typeface="Microsoft YaHei UI Light"/>
                <a:cs typeface="Times New Roman"/>
              </a:rPr>
              <a:t>  S</a:t>
            </a:r>
            <a:r>
              <a:rPr lang="en-US" altLang="zh-CN">
                <a:latin typeface="Times New Roman"/>
                <a:ea typeface="Microsoft YaHei UI Light"/>
                <a:cs typeface="Times New Roman"/>
              </a:rPr>
              <a:t>(g/L)</a:t>
            </a:r>
            <a:r>
              <a:rPr lang="zh-CN">
                <a:latin typeface="Times New Roman"/>
                <a:ea typeface="Microsoft YaHei UI Light"/>
                <a:cs typeface="Times New Roman"/>
              </a:rPr>
              <a:t>: Substrate concentration</a:t>
            </a:r>
            <a:endParaRPr lang="zh-CN">
              <a:latin typeface="Times New Roman"/>
              <a:cs typeface="Times New Roman"/>
            </a:endParaRPr>
          </a:p>
          <a:p>
            <a:r>
              <a:rPr lang="zh-CN">
                <a:latin typeface="Times New Roman"/>
                <a:ea typeface="Microsoft YaHei UI Light"/>
                <a:cs typeface="Times New Roman"/>
              </a:rPr>
              <a:t>Pt</a:t>
            </a:r>
            <a:r>
              <a:rPr lang="zh-CN" altLang="en-US">
                <a:latin typeface="Times New Roman"/>
                <a:ea typeface="Microsoft YaHei UI Light"/>
                <a:cs typeface="Times New Roman"/>
              </a:rPr>
              <a:t> </a:t>
            </a:r>
            <a:r>
              <a:rPr lang="en-US" altLang="zh-CN">
                <a:latin typeface="Times New Roman"/>
                <a:ea typeface="Microsoft YaHei UI Light"/>
                <a:cs typeface="Times New Roman"/>
              </a:rPr>
              <a:t>(g/L)</a:t>
            </a:r>
            <a:r>
              <a:rPr lang="zh-CN">
                <a:latin typeface="Times New Roman"/>
                <a:ea typeface="Microsoft YaHei UI Light"/>
                <a:cs typeface="Times New Roman"/>
              </a:rPr>
              <a:t> : Total product concentration</a:t>
            </a:r>
            <a:endParaRPr lang="zh-CN">
              <a:latin typeface="Times New Roman"/>
              <a:cs typeface="Times New Roman"/>
            </a:endParaRPr>
          </a:p>
          <a:p>
            <a:r>
              <a:rPr lang="zh-CN">
                <a:latin typeface="Times New Roman"/>
                <a:ea typeface="Microsoft YaHei UI Light"/>
                <a:cs typeface="Times New Roman"/>
              </a:rPr>
              <a:t>Pm</a:t>
            </a:r>
            <a:r>
              <a:rPr lang="en-US" altLang="zh-CN">
                <a:latin typeface="Times New Roman"/>
                <a:ea typeface="Microsoft YaHei UI Light"/>
                <a:cs typeface="Times New Roman"/>
              </a:rPr>
              <a:t>(g/L)</a:t>
            </a:r>
            <a:r>
              <a:rPr lang="zh-CN">
                <a:latin typeface="Times New Roman"/>
                <a:ea typeface="Microsoft YaHei UI Light"/>
                <a:cs typeface="Times New Roman"/>
              </a:rPr>
              <a:t> : Secreted product concentration</a:t>
            </a:r>
            <a:endParaRPr lang="zh-CN">
              <a:latin typeface="Times New Roman"/>
              <a:cs typeface="Times New Roman"/>
            </a:endParaRPr>
          </a:p>
          <a:p>
            <a:r>
              <a:rPr lang="zh-CN">
                <a:latin typeface="Times New Roman"/>
                <a:ea typeface="Microsoft YaHei UI Light"/>
                <a:cs typeface="Times New Roman"/>
              </a:rPr>
              <a:t>The file also provides corresponding noise free</a:t>
            </a:r>
            <a:r>
              <a:rPr lang="zh-CN" altLang="en-US">
                <a:latin typeface="Times New Roman"/>
                <a:ea typeface="Microsoft YaHei UI Light"/>
                <a:cs typeface="Times New Roman"/>
              </a:rPr>
              <a:t> </a:t>
            </a:r>
            <a:r>
              <a:rPr lang="zh-CN">
                <a:latin typeface="Times New Roman"/>
                <a:ea typeface="Microsoft YaHei UI Light"/>
                <a:cs typeface="Times New Roman"/>
              </a:rPr>
              <a:t>trajectories Xtrue,Strue,Pt,true,Pm,true</a:t>
            </a:r>
            <a:r>
              <a:rPr lang="zh-CN" altLang="en-US">
                <a:latin typeface="Times New Roman"/>
                <a:ea typeface="Microsoft YaHei UI Light"/>
                <a:cs typeface="Times New Roman"/>
              </a:rPr>
              <a:t> </a:t>
            </a:r>
            <a:r>
              <a:rPr lang="zh-CN">
                <a:latin typeface="Times New Roman"/>
                <a:ea typeface="Microsoft YaHei UI Light"/>
                <a:cs typeface="Times New Roman"/>
              </a:rPr>
              <a:t>used only for evaluation.</a:t>
            </a:r>
          </a:p>
          <a:p>
            <a:r>
              <a:rPr lang="zh-CN">
                <a:latin typeface="Times New Roman"/>
                <a:ea typeface="Microsoft YaHei UI Light"/>
                <a:cs typeface="Times New Roman"/>
              </a:rPr>
              <a:t>Fixed process constants used in the physics model: Sin=20g</a:t>
            </a:r>
            <a:r>
              <a:rPr lang="zh-CN" altLang="en-US">
                <a:latin typeface="Times New Roman"/>
                <a:ea typeface="Microsoft YaHei UI Light"/>
                <a:cs typeface="Times New Roman"/>
              </a:rPr>
              <a:t> </a:t>
            </a:r>
            <a:r>
              <a:rPr lang="zh-CN">
                <a:latin typeface="Times New Roman"/>
                <a:ea typeface="Microsoft YaHei UI Light"/>
                <a:cs typeface="Times New Roman"/>
              </a:rPr>
              <a:t>and yield Y=7.3</a:t>
            </a:r>
            <a:endParaRPr lang="zh-CN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6701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C04CA-83F6-A5BE-E122-325287F54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53892-6227-8B4D-1D3B-2F92E04B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b="0">
                <a:latin typeface="Times New Roman"/>
                <a:ea typeface="Microsoft YaHei UI"/>
                <a:cs typeface="Times New Roman"/>
              </a:rPr>
              <a:t>Batch level partition</a:t>
            </a:r>
            <a:endParaRPr lang="zh-CN">
              <a:latin typeface="Times New Roman"/>
              <a:ea typeface="Microsoft YaHei UI"/>
              <a:cs typeface="Times New Roman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543647-22EB-7ADA-EE09-DC98E83085B5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We use a batch-level split to avoid leakage between train and test trajectories.</a:t>
            </a:r>
            <a:endParaRPr lang="zh-CN" altLang="en-US" sz="2400">
              <a:latin typeface="Times New Roman"/>
              <a:ea typeface="Microsoft YaHei UI Light"/>
              <a:cs typeface="Times New Roman"/>
            </a:endParaRPr>
          </a:p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Test set: Batch 16 (annotated in code as an optimal control profile, most meaningful for extrapolation).</a:t>
            </a:r>
          </a:p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Training set: Batches 1–15.</a:t>
            </a:r>
          </a:p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No explicit validation set in this version; generalization is promoted via stochastic batch sampling during training.</a:t>
            </a:r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392135-CFCB-5A28-8992-9B305F2D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9</a:t>
            </a:fld>
            <a:endParaRPr lang="zh-CN"/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7697B6FE-6E2C-6F1F-6126-2A02A1E41E85}"/>
              </a:ext>
            </a:extLst>
          </p:cNvPr>
          <p:cNvSpPr txBox="1">
            <a:spLocks/>
          </p:cNvSpPr>
          <p:nvPr/>
        </p:nvSpPr>
        <p:spPr>
          <a:xfrm>
            <a:off x="893762" y="246253"/>
            <a:ext cx="10404475" cy="6370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>
                <a:latin typeface="Times New Roman"/>
                <a:cs typeface="Times New Roman"/>
              </a:rPr>
              <a:t>EXPERIMENTAL STUDY</a:t>
            </a:r>
          </a:p>
        </p:txBody>
      </p:sp>
    </p:spTree>
    <p:extLst>
      <p:ext uri="{BB962C8B-B14F-4D97-AF65-F5344CB8AC3E}">
        <p14:creationId xmlns:p14="http://schemas.microsoft.com/office/powerpoint/2010/main" val="3334222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992C7-25CF-3E13-E8FA-D3B51900C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5884E2-AB36-7FBA-11BE-2A76D0673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b="0">
                <a:latin typeface="Times New Roman"/>
                <a:ea typeface="Microsoft YaHei UI"/>
                <a:cs typeface="Times New Roman"/>
              </a:rPr>
              <a:t>Initial conditions as inputs</a:t>
            </a:r>
            <a:endParaRPr lang="zh-CN">
              <a:latin typeface="Times New Roman"/>
              <a:ea typeface="Microsoft YaHei UI"/>
              <a:cs typeface="Times New Roman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DDA3FD-266F-D776-6867-7385A1DDFBB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5256" y="2043429"/>
            <a:ext cx="10405174" cy="42302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>
                <a:latin typeface="Times New Roman"/>
                <a:ea typeface="Microsoft YaHei UI Light"/>
                <a:cs typeface="Times New Roman"/>
              </a:rPr>
              <a:t>Initial conditions are extracted from the first point of each batch:</a:t>
            </a:r>
            <a:endParaRPr lang="en-US">
              <a:latin typeface="Times New Roman"/>
              <a:ea typeface="Microsoft YaHei UI Light"/>
              <a:cs typeface="Times New Roman"/>
            </a:endParaRPr>
          </a:p>
          <a:p>
            <a:pPr marL="0" indent="0" algn="ctr">
              <a:buNone/>
            </a:pPr>
            <a:r>
              <a:rPr lang="en-US" altLang="zh-CN">
                <a:latin typeface="Times New Roman"/>
                <a:ea typeface="Microsoft YaHei UI Light"/>
                <a:cs typeface="Times New Roman"/>
              </a:rPr>
              <a:t>(X0</a:t>
            </a:r>
            <a:r>
              <a:rPr lang="zh-CN" altLang="en-US">
                <a:latin typeface="Times New Roman"/>
                <a:ea typeface="Microsoft YaHei UI Light"/>
                <a:cs typeface="Times New Roman"/>
              </a:rPr>
              <a:t> </a:t>
            </a:r>
            <a:r>
              <a:rPr lang="en-US" altLang="zh-CN">
                <a:latin typeface="Times New Roman"/>
                <a:ea typeface="Microsoft YaHei UI Light"/>
                <a:cs typeface="Times New Roman"/>
              </a:rPr>
              <a:t>,S0</a:t>
            </a:r>
            <a:r>
              <a:rPr lang="zh-CN" altLang="en-US">
                <a:latin typeface="Times New Roman"/>
                <a:ea typeface="Microsoft YaHei UI Light"/>
                <a:cs typeface="Times New Roman"/>
              </a:rPr>
              <a:t> </a:t>
            </a:r>
            <a:r>
              <a:rPr lang="en-US" altLang="zh-CN">
                <a:latin typeface="Times New Roman"/>
                <a:ea typeface="Microsoft YaHei UI Light"/>
                <a:cs typeface="Times New Roman"/>
              </a:rPr>
              <a:t>,Pt0</a:t>
            </a:r>
            <a:r>
              <a:rPr lang="zh-CN" altLang="en-US">
                <a:latin typeface="Times New Roman"/>
                <a:ea typeface="Microsoft YaHei UI Light"/>
                <a:cs typeface="Times New Roman"/>
              </a:rPr>
              <a:t> </a:t>
            </a:r>
            <a:r>
              <a:rPr lang="en-US" altLang="zh-CN">
                <a:latin typeface="Times New Roman"/>
                <a:ea typeface="Microsoft YaHei UI Light"/>
                <a:cs typeface="Times New Roman"/>
              </a:rPr>
              <a:t>,Pm0</a:t>
            </a:r>
            <a:r>
              <a:rPr lang="zh-CN" altLang="en-US">
                <a:latin typeface="Times New Roman"/>
                <a:ea typeface="Microsoft YaHei UI Light"/>
                <a:cs typeface="Times New Roman"/>
              </a:rPr>
              <a:t> </a:t>
            </a:r>
            <a:r>
              <a:rPr lang="en-US" altLang="zh-CN">
                <a:latin typeface="Times New Roman"/>
                <a:ea typeface="Microsoft YaHei UI Light"/>
                <a:cs typeface="Times New Roman"/>
              </a:rPr>
              <a:t>)</a:t>
            </a:r>
            <a:endParaRPr lang="en-US">
              <a:latin typeface="Times New Roman"/>
              <a:ea typeface="Microsoft YaHei UI Light"/>
              <a:cs typeface="Times New Roman"/>
            </a:endParaRPr>
          </a:p>
          <a:p>
            <a:pPr marL="0" indent="0">
              <a:buNone/>
            </a:pPr>
            <a:r>
              <a:rPr lang="en-US" altLang="zh-CN">
                <a:latin typeface="Times New Roman"/>
                <a:ea typeface="Microsoft YaHei UI Light"/>
                <a:cs typeface="Times New Roman"/>
              </a:rPr>
              <a:t>   and replicated across all samples of that batch.</a:t>
            </a:r>
            <a:endParaRPr lang="zh-CN">
              <a:latin typeface="Times New Roman"/>
              <a:cs typeface="Times New Roman"/>
            </a:endParaRPr>
          </a:p>
          <a:p>
            <a:r>
              <a:rPr lang="zh-CN">
                <a:latin typeface="Times New Roman"/>
                <a:ea typeface="Microsoft YaHei UI Light"/>
                <a:cs typeface="Times New Roman"/>
              </a:rPr>
              <a:t>The network learns a conditional mapping:</a:t>
            </a:r>
          </a:p>
          <a:p>
            <a:pPr marL="0" indent="0" algn="ctr">
              <a:buNone/>
            </a:pPr>
            <a:r>
              <a:rPr lang="zh-CN">
                <a:latin typeface="Times New Roman"/>
                <a:ea typeface="Microsoft YaHei UI Light"/>
                <a:cs typeface="Times New Roman"/>
              </a:rPr>
              <a:t>(X,S,Pt ,Pm )=fθ (τ,V,F,X0 ,S0 ,Pt0 ,Pm0 ) </a:t>
            </a:r>
            <a:endParaRPr lang="zh-CN" altLang="en-US">
              <a:latin typeface="Times New Roman"/>
              <a:ea typeface="Microsoft YaHei UI Light"/>
              <a:cs typeface="Times New Roman"/>
            </a:endParaRPr>
          </a:p>
          <a:p>
            <a:pPr marL="0" indent="0">
              <a:buNone/>
            </a:pPr>
            <a:r>
              <a:rPr lang="zh-CN">
                <a:latin typeface="Times New Roman"/>
                <a:ea typeface="Microsoft YaHei UI Light"/>
                <a:cs typeface="Times New Roman"/>
              </a:rPr>
              <a:t>enabling one model to handle multiple batches with different initial states and inputs.</a:t>
            </a:r>
          </a:p>
          <a:p>
            <a:pPr marL="342900" indent="-342900"/>
            <a:r>
              <a:rPr lang="en-US" altLang="zh-CN">
                <a:latin typeface="Times New Roman"/>
                <a:ea typeface="Microsoft YaHei UI Light"/>
                <a:cs typeface="Times New Roman"/>
              </a:rPr>
              <a:t>Inputs</a:t>
            </a:r>
            <a:r>
              <a:rPr lang="zh-CN" altLang="en-US">
                <a:latin typeface="Times New Roman"/>
                <a:ea typeface="Microsoft YaHei UI Light"/>
                <a:cs typeface="Times New Roman"/>
              </a:rPr>
              <a:t> </a:t>
            </a:r>
            <a:r>
              <a:rPr lang="en-US" altLang="zh-CN">
                <a:latin typeface="Times New Roman"/>
                <a:ea typeface="Microsoft YaHei UI Light"/>
                <a:cs typeface="Times New Roman"/>
              </a:rPr>
              <a:t>(7D):</a:t>
            </a:r>
            <a:r>
              <a:rPr lang="en-US">
                <a:latin typeface="Times New Roman"/>
                <a:ea typeface="Microsoft YaHei UI Light"/>
                <a:cs typeface="Times New Roman"/>
              </a:rPr>
              <a:t>u=[τ, </a:t>
            </a:r>
            <a:r>
              <a:rPr lang="en-US" err="1">
                <a:latin typeface="Times New Roman"/>
                <a:ea typeface="Microsoft YaHei UI Light"/>
                <a:cs typeface="Times New Roman"/>
              </a:rPr>
              <a:t>Vexact</a:t>
            </a:r>
            <a:r>
              <a:rPr lang="en-US">
                <a:latin typeface="Times New Roman"/>
                <a:ea typeface="Microsoft YaHei UI Light"/>
                <a:cs typeface="Times New Roman"/>
              </a:rPr>
              <a:t> , F, X0 , S0 , Pt0 , Pm0 ]</a:t>
            </a:r>
            <a:endParaRPr lang="en-US" altLang="zh-CN">
              <a:latin typeface="Times New Roman"/>
              <a:cs typeface="Times New Roman"/>
            </a:endParaRPr>
          </a:p>
          <a:p>
            <a:pPr marL="342900" indent="-342900"/>
            <a:r>
              <a:rPr lang="en-US">
                <a:latin typeface="Times New Roman"/>
                <a:ea typeface="Microsoft YaHei UI Light"/>
                <a:cs typeface="Times New Roman"/>
              </a:rPr>
              <a:t>Outputs (4D):y=[X, S, Pt , Pm ]</a:t>
            </a:r>
            <a:endParaRPr lang="en-US">
              <a:latin typeface="Times New Roman"/>
              <a:cs typeface="Times New Roman"/>
            </a:endParaRPr>
          </a:p>
          <a:p>
            <a:pPr marL="342900" indent="-342900"/>
            <a:r>
              <a:rPr lang="en-US">
                <a:latin typeface="Times New Roman"/>
                <a:ea typeface="Microsoft YaHei UI Light"/>
                <a:cs typeface="Times New Roman"/>
              </a:rPr>
              <a:t>Architecture: 4 hidden layers, 128 neurons each, tanh activation</a:t>
            </a:r>
          </a:p>
          <a:p>
            <a:endParaRPr lang="zh-CN" altLang="en-US"/>
          </a:p>
          <a:p>
            <a:pPr marL="0" indent="0" algn="ctr">
              <a:buNone/>
            </a:pPr>
            <a:endParaRPr lang="en-US" altLang="zh-CN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CD8851-1130-2F61-2E42-1E8F895F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10</a:t>
            </a:fld>
            <a:endParaRPr lang="zh-CN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746BCFA8-21C1-ECC1-8F4E-FD125B34D148}"/>
              </a:ext>
            </a:extLst>
          </p:cNvPr>
          <p:cNvSpPr txBox="1">
            <a:spLocks/>
          </p:cNvSpPr>
          <p:nvPr/>
        </p:nvSpPr>
        <p:spPr>
          <a:xfrm>
            <a:off x="893762" y="246253"/>
            <a:ext cx="10404475" cy="6370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>
                <a:latin typeface="Times New Roman"/>
                <a:cs typeface="Times New Roman"/>
              </a:rPr>
              <a:t>EXPERIMENTAL STUDY</a:t>
            </a:r>
          </a:p>
        </p:txBody>
      </p:sp>
    </p:spTree>
    <p:extLst>
      <p:ext uri="{BB962C8B-B14F-4D97-AF65-F5344CB8AC3E}">
        <p14:creationId xmlns:p14="http://schemas.microsoft.com/office/powerpoint/2010/main" val="1239397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52B15-3E05-E597-DC5A-CBE7122CC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D6A1C-6EF3-4B12-0D65-D9970371E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b="0">
                <a:latin typeface="Times New Roman"/>
                <a:cs typeface="Times New Roman"/>
              </a:rPr>
              <a:t>Training Protocol &amp; Model Selection</a:t>
            </a:r>
            <a:endParaRPr lang="zh-CN">
              <a:latin typeface="Times New Roman"/>
              <a:cs typeface="Times New Roman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C25865-4518-53A4-349B-E3A57BE135C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Training length: totalEpochs=50000.</a:t>
            </a:r>
            <a:endParaRPr lang="zh-CN" altLang="en-US" sz="2400">
              <a:latin typeface="Times New Roman"/>
              <a:ea typeface="Microsoft YaHei UI Light"/>
              <a:cs typeface="Times New Roman"/>
            </a:endParaRPr>
          </a:p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Fixed loss weighting: λ=0.5.</a:t>
            </a:r>
          </a:p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Learning-rate schedule:10^{-4}10−3→5×10−4→10−4 (piecewise decay).</a:t>
            </a:r>
          </a:p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Model selection: every 500 epochs, compute test R</a:t>
            </a:r>
            <a:r>
              <a:rPr lang="en-US" altLang="zh-CN" sz="2400">
                <a:latin typeface="Times New Roman"/>
                <a:ea typeface="Microsoft YaHei UI Light"/>
                <a:cs typeface="Times New Roman"/>
              </a:rPr>
              <a:t>^</a:t>
            </a:r>
            <a:r>
              <a:rPr lang="zh-CN" sz="2400">
                <a:latin typeface="Times New Roman"/>
                <a:ea typeface="Microsoft YaHei UI Light"/>
                <a:cs typeface="Times New Roman"/>
              </a:rPr>
              <a:t>2 on </a:t>
            </a:r>
            <a:r>
              <a:rPr lang="zh-CN" sz="2400" b="1">
                <a:latin typeface="Times New Roman"/>
                <a:ea typeface="Microsoft YaHei UI Light"/>
                <a:cs typeface="Times New Roman"/>
              </a:rPr>
              <a:t>Batch 16</a:t>
            </a:r>
            <a:r>
              <a:rPr lang="zh-CN" sz="2400">
                <a:latin typeface="Times New Roman"/>
                <a:ea typeface="Microsoft YaHei UI Light"/>
                <a:cs typeface="Times New Roman"/>
              </a:rPr>
              <a:t> for Pm; keep the best model.</a:t>
            </a:r>
          </a:p>
          <a:p>
            <a:pPr marL="0" indent="0">
              <a:buNone/>
            </a:pPr>
            <a:endParaRPr lang="zh-CN">
              <a:latin typeface="Times New Roman"/>
              <a:cs typeface="Times New Roman"/>
            </a:endParaRPr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3C1D44-5D0A-D542-0AD5-BE3A5AD1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11</a:t>
            </a:fld>
            <a:endParaRPr lang="zh-CN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23F98C45-EEE7-24EE-C6D6-7064D8A9C845}"/>
              </a:ext>
            </a:extLst>
          </p:cNvPr>
          <p:cNvSpPr txBox="1">
            <a:spLocks/>
          </p:cNvSpPr>
          <p:nvPr/>
        </p:nvSpPr>
        <p:spPr>
          <a:xfrm>
            <a:off x="893762" y="246253"/>
            <a:ext cx="10404475" cy="6370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altLang="zh-CN">
                <a:latin typeface="Times New Roman"/>
                <a:cs typeface="Times New Roman"/>
              </a:rPr>
              <a:t>EXPERIMENTAL STUDY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C63CAD-1F5B-9297-C473-F57711FA7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800" y="4296346"/>
            <a:ext cx="3990975" cy="10572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48878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D27D9-CE89-701C-74C7-5605B5AF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4EBE951-6643-D1F8-DCCA-557159AE5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680" y="736600"/>
            <a:ext cx="6197600" cy="2053008"/>
          </a:xfrm>
        </p:spPr>
        <p:txBody>
          <a:bodyPr>
            <a:normAutofit/>
          </a:bodyPr>
          <a:lstStyle/>
          <a:p>
            <a:r>
              <a:rPr lang="en-US" sz="3600">
                <a:latin typeface="Microsoft YaHei UI"/>
                <a:ea typeface="Microsoft YaHei UI"/>
              </a:rPr>
              <a:t>Experimental results</a:t>
            </a:r>
            <a:endParaRPr 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DDB807B-BB9B-9C86-142C-5B8E546AA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97D9A1-D7E7-959D-39FB-CEED169522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46813"/>
            <a:ext cx="2670175" cy="365125"/>
          </a:xfrm>
        </p:spPr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12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574305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6C1A7-BD5A-C961-6D8B-4EAC0D11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31E7C-628F-ED27-A3F5-9C3033B03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Times New Roman"/>
                <a:ea typeface="Microsoft YaHei UI"/>
                <a:cs typeface="Times New Roman"/>
              </a:rPr>
              <a:t>Results</a:t>
            </a:r>
            <a:r>
              <a:rPr lang="zh-CN" b="0">
                <a:latin typeface="Times New Roman"/>
                <a:ea typeface="Microsoft YaHei UI"/>
                <a:cs typeface="Times New Roman"/>
              </a:rPr>
              <a:t> </a:t>
            </a:r>
            <a:r>
              <a:rPr lang="en-US" altLang="zh-CN" b="0">
                <a:latin typeface="Times New Roman"/>
                <a:ea typeface="Microsoft YaHei UI"/>
                <a:cs typeface="Times New Roman"/>
              </a:rPr>
              <a:t>Overview</a:t>
            </a:r>
            <a:endParaRPr lang="zh-CN" altLang="en-US">
              <a:latin typeface="Times New Roman"/>
              <a:ea typeface="Microsoft YaHei U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CA41E0-1186-D7BE-26A8-63FB8212B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13</a:t>
            </a:fld>
            <a:endParaRPr lang="zh-CN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623F7D23-4F10-261B-7204-C8BE62D695D0}"/>
              </a:ext>
            </a:extLst>
          </p:cNvPr>
          <p:cNvSpPr txBox="1">
            <a:spLocks/>
          </p:cNvSpPr>
          <p:nvPr/>
        </p:nvSpPr>
        <p:spPr>
          <a:xfrm>
            <a:off x="893762" y="246253"/>
            <a:ext cx="10404475" cy="6370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>
                <a:latin typeface="Times New Roman"/>
                <a:ea typeface="Microsoft YaHei UI"/>
                <a:cs typeface="Times New Roman"/>
              </a:rPr>
              <a:t>Experimental results</a:t>
            </a:r>
            <a:endParaRPr lang="zh-CN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F4317E02-4E8C-1F53-1657-2C2898D9F62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We report: </a:t>
            </a:r>
            <a:endParaRPr lang="zh-CN" altLang="en-US" sz="2400">
              <a:latin typeface="Times New Roman"/>
              <a:ea typeface="Microsoft YaHei UI Light"/>
              <a:cs typeface="Times New Roman"/>
            </a:endParaRPr>
          </a:p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(i) sensitivity to the loss weight λ</a:t>
            </a:r>
            <a:endParaRPr lang="zh-CN" altLang="en-US" sz="2400">
              <a:latin typeface="Times New Roman"/>
              <a:ea typeface="Microsoft YaHei UI Light"/>
              <a:cs typeface="Times New Roman"/>
            </a:endParaRPr>
          </a:p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(ii) training convergence</a:t>
            </a:r>
            <a:endParaRPr lang="zh-CN" altLang="en-US" sz="2400">
              <a:latin typeface="Times New Roman"/>
              <a:ea typeface="Microsoft YaHei UI Light"/>
              <a:cs typeface="Times New Roman"/>
            </a:endParaRPr>
          </a:p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(iii) accuracy metrics (R</a:t>
            </a:r>
            <a:r>
              <a:rPr lang="en-US" altLang="zh-CN" sz="2400">
                <a:latin typeface="Times New Roman"/>
                <a:ea typeface="Microsoft YaHei UI Light"/>
                <a:cs typeface="Times New Roman"/>
              </a:rPr>
              <a:t>^</a:t>
            </a:r>
            <a:r>
              <a:rPr lang="zh-CN" sz="2400">
                <a:latin typeface="Times New Roman"/>
                <a:ea typeface="Microsoft YaHei UI Light"/>
                <a:cs typeface="Times New Roman"/>
              </a:rPr>
              <a:t>2) on Train/Val/Test</a:t>
            </a:r>
            <a:endParaRPr lang="zh-CN" altLang="en-US" sz="2400">
              <a:latin typeface="Times New Roman"/>
              <a:ea typeface="Microsoft YaHei UI Light"/>
              <a:cs typeface="Times New Roman"/>
            </a:endParaRPr>
          </a:p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(iv) time-series performance on the unseen Test batch (Batch 16).</a:t>
            </a:r>
            <a:endParaRPr lang="zh-CN" altLang="en-US" sz="2400">
              <a:latin typeface="Times New Roman"/>
              <a:ea typeface="Microsoft YaHei UI Light"/>
              <a:cs typeface="Times New Roman"/>
            </a:endParaRPr>
          </a:p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The evaluation focuses on the four predicted states: X, S, Pt, Pm.</a:t>
            </a:r>
          </a:p>
          <a:p>
            <a:r>
              <a:rPr lang="zh-CN" sz="2400">
                <a:latin typeface="Times New Roman"/>
                <a:ea typeface="Microsoft YaHei UI Light"/>
                <a:cs typeface="Times New Roman"/>
              </a:rPr>
              <a:t>Batch 16 is used as the main generalization benchmark (unseen input profile).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01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A1DA3-21CF-D0E8-1CEC-70E8D23E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1E397-8D03-D7BA-412C-B67928263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Microsoft YaHei UI"/>
                <a:ea typeface="Microsoft YaHei UI"/>
                <a:cs typeface="Times New Roman"/>
              </a:rPr>
              <a:t>Effect of     (Data vs Physics Trade-off)</a:t>
            </a:r>
            <a:endParaRPr lang="zh-CN" altLang="en-US">
              <a:latin typeface="Microsoft YaHei UI"/>
              <a:ea typeface="Microsoft YaHei U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A78B4A-33B3-486C-14DC-F28EE38D0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14</a:t>
            </a:fld>
            <a:endParaRPr lang="zh-CN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328C3DFA-AF77-9ED4-671C-B76BDE679A3F}"/>
              </a:ext>
            </a:extLst>
          </p:cNvPr>
          <p:cNvSpPr txBox="1">
            <a:spLocks/>
          </p:cNvSpPr>
          <p:nvPr/>
        </p:nvSpPr>
        <p:spPr>
          <a:xfrm>
            <a:off x="893762" y="246253"/>
            <a:ext cx="10404475" cy="6370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>
                <a:latin typeface="Times New Roman"/>
                <a:ea typeface="Microsoft YaHei UI"/>
                <a:cs typeface="Times New Roman"/>
              </a:rPr>
              <a:t>Experimental results</a:t>
            </a:r>
            <a:endParaRPr lang="zh-CN"/>
          </a:p>
        </p:txBody>
      </p:sp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8BCB4FD2-C6DF-1FE4-431F-6C78E8BF071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2916757" y="886468"/>
            <a:ext cx="277769" cy="483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3" name="图片 22" descr="图表, 条形图&#10;&#10;AI 生成的内容可能不正确。">
            <a:extLst>
              <a:ext uri="{FF2B5EF4-FFF2-40B4-BE49-F238E27FC236}">
                <a16:creationId xmlns:a16="http://schemas.microsoft.com/office/drawing/2014/main" id="{EE0CE3A3-0DD9-E9EB-627C-94C7BD864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470" y="1266567"/>
            <a:ext cx="7870764" cy="515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88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D8FE0-F002-B6F3-2C18-4C4C6AE44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6D118-A912-E25E-539E-C9A2D554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Times New Roman"/>
                <a:ea typeface="Microsoft YaHei UI"/>
                <a:cs typeface="Times New Roman"/>
              </a:rPr>
              <a:t>Training</a:t>
            </a:r>
            <a:r>
              <a:rPr lang="zh-CN" altLang="en-US" b="0">
                <a:latin typeface="Times New Roman"/>
                <a:ea typeface="Microsoft YaHei UI"/>
                <a:cs typeface="Times New Roman"/>
              </a:rPr>
              <a:t> </a:t>
            </a:r>
            <a:r>
              <a:rPr lang="en-US" altLang="zh-CN" b="0">
                <a:latin typeface="Times New Roman"/>
                <a:ea typeface="Microsoft YaHei UI"/>
                <a:cs typeface="Times New Roman"/>
              </a:rPr>
              <a:t>Convergence</a:t>
            </a:r>
            <a:endParaRPr lang="zh-CN">
              <a:latin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0C0EF8-B250-7E1D-88FC-DA6A1A73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15</a:t>
            </a:fld>
            <a:endParaRPr lang="zh-CN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C61B5ACE-6ABB-7139-1D7C-FDCCFC85BCF7}"/>
              </a:ext>
            </a:extLst>
          </p:cNvPr>
          <p:cNvSpPr txBox="1">
            <a:spLocks/>
          </p:cNvSpPr>
          <p:nvPr/>
        </p:nvSpPr>
        <p:spPr>
          <a:xfrm>
            <a:off x="893762" y="246253"/>
            <a:ext cx="10404475" cy="6370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>
                <a:latin typeface="Times New Roman"/>
                <a:ea typeface="Microsoft YaHei UI"/>
                <a:cs typeface="Times New Roman"/>
              </a:rPr>
              <a:t>Experimental results</a:t>
            </a:r>
            <a:endParaRPr lang="zh-CN"/>
          </a:p>
        </p:txBody>
      </p:sp>
      <p:pic>
        <p:nvPicPr>
          <p:cNvPr id="5" name="内容占位符 4" descr="图表&#10;&#10;AI 生成的内容可能不正确。">
            <a:extLst>
              <a:ext uri="{FF2B5EF4-FFF2-40B4-BE49-F238E27FC236}">
                <a16:creationId xmlns:a16="http://schemas.microsoft.com/office/drawing/2014/main" id="{99884832-E8CE-C4C7-300B-2EB1F79CEB8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1145770" y="2043429"/>
            <a:ext cx="9936338" cy="392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48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A00F6-FC51-C3BB-D277-4F40FC9D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61E219-C4AE-D723-9A3B-5A5A0553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Times New Roman"/>
                <a:ea typeface="Microsoft YaHei UI"/>
                <a:cs typeface="Times New Roman"/>
              </a:rPr>
              <a:t>Training</a:t>
            </a:r>
            <a:r>
              <a:rPr lang="zh-CN" altLang="en-US" b="0">
                <a:latin typeface="Times New Roman"/>
                <a:ea typeface="Microsoft YaHei UI"/>
                <a:cs typeface="Times New Roman"/>
              </a:rPr>
              <a:t> </a:t>
            </a:r>
            <a:r>
              <a:rPr lang="en-US" altLang="zh-CN" b="0">
                <a:latin typeface="Times New Roman"/>
                <a:ea typeface="Microsoft YaHei UI"/>
                <a:cs typeface="Times New Roman"/>
              </a:rPr>
              <a:t>Convergence</a:t>
            </a:r>
            <a:endParaRPr lang="zh-CN">
              <a:latin typeface="Times New Roman"/>
              <a:ea typeface="Microsoft YaHei U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CA67F7-8463-5551-12D6-D1E847DAF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16</a:t>
            </a:fld>
            <a:endParaRPr lang="zh-CN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DD08085C-06AB-DA48-18E6-D4568DC35B17}"/>
              </a:ext>
            </a:extLst>
          </p:cNvPr>
          <p:cNvSpPr txBox="1">
            <a:spLocks/>
          </p:cNvSpPr>
          <p:nvPr/>
        </p:nvSpPr>
        <p:spPr>
          <a:xfrm>
            <a:off x="893762" y="246253"/>
            <a:ext cx="10404475" cy="6370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>
                <a:latin typeface="Times New Roman"/>
                <a:ea typeface="Microsoft YaHei UI"/>
                <a:cs typeface="Times New Roman"/>
              </a:rPr>
              <a:t>Experimental results</a:t>
            </a:r>
            <a:endParaRPr lang="zh-CN"/>
          </a:p>
        </p:txBody>
      </p:sp>
      <p:pic>
        <p:nvPicPr>
          <p:cNvPr id="5" name="内容占位符 4" descr="图表, 折线图, 散点图&#10;&#10;AI 生成的内容可能不正确。">
            <a:extLst>
              <a:ext uri="{FF2B5EF4-FFF2-40B4-BE49-F238E27FC236}">
                <a16:creationId xmlns:a16="http://schemas.microsoft.com/office/drawing/2014/main" id="{0A2EA3AE-A2A0-1618-869C-F0FEF5BCB87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2982818" y="1404997"/>
            <a:ext cx="6221054" cy="456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12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71A1-A808-FE66-5DC1-4CE64DACA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42B22-FFFB-80AE-8945-3EC30C128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latin typeface="Times New Roman"/>
                <a:cs typeface="Times New Roman"/>
              </a:rPr>
              <a:t>Quantitative</a:t>
            </a:r>
            <a:r>
              <a:rPr lang="zh-CN" altLang="en-US" b="0">
                <a:latin typeface="Times New Roman"/>
                <a:cs typeface="Times New Roman"/>
              </a:rPr>
              <a:t> </a:t>
            </a:r>
            <a:r>
              <a:rPr lang="en-US" altLang="zh-CN" b="0">
                <a:latin typeface="Times New Roman"/>
                <a:cs typeface="Times New Roman"/>
              </a:rPr>
              <a:t>Accuracy</a:t>
            </a:r>
            <a:endParaRPr 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57363-E17D-EF5F-C84C-080C6D9A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17</a:t>
            </a:fld>
            <a:endParaRPr lang="zh-CN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3D07FE6E-3FFF-F100-EC67-2940EEE70EDF}"/>
              </a:ext>
            </a:extLst>
          </p:cNvPr>
          <p:cNvSpPr txBox="1">
            <a:spLocks/>
          </p:cNvSpPr>
          <p:nvPr/>
        </p:nvSpPr>
        <p:spPr>
          <a:xfrm>
            <a:off x="893762" y="246253"/>
            <a:ext cx="10404475" cy="6370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>
                <a:latin typeface="Times New Roman"/>
                <a:ea typeface="Microsoft YaHei UI"/>
                <a:cs typeface="Times New Roman"/>
              </a:rPr>
              <a:t>Experimental results</a:t>
            </a:r>
            <a:endParaRPr lang="zh-CN"/>
          </a:p>
        </p:txBody>
      </p:sp>
      <p:pic>
        <p:nvPicPr>
          <p:cNvPr id="3" name="内容占位符 2" descr="图表, 折线图&#10;&#10;AI 生成的内容可能不正确。">
            <a:extLst>
              <a:ext uri="{FF2B5EF4-FFF2-40B4-BE49-F238E27FC236}">
                <a16:creationId xmlns:a16="http://schemas.microsoft.com/office/drawing/2014/main" id="{8794AA60-A516-E764-F256-49E560D1227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3274500" y="1404998"/>
            <a:ext cx="5647986" cy="454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866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DD861-FCE5-2A6B-1E2B-01A7225BC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46D56C3-B845-4605-7154-F6AFE00DE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762" y="736600"/>
            <a:ext cx="7021382" cy="2053008"/>
          </a:xfrm>
        </p:spPr>
        <p:txBody>
          <a:bodyPr>
            <a:normAutofit/>
          </a:bodyPr>
          <a:lstStyle/>
          <a:p>
            <a:r>
              <a:rPr lang="en-US" sz="3600">
                <a:latin typeface="Microsoft YaHei UI"/>
                <a:ea typeface="Microsoft YaHei UI"/>
                <a:cs typeface="Times New Roman"/>
              </a:rPr>
              <a:t>Discussion &amp; Conclusion</a:t>
            </a:r>
            <a:endParaRPr lang="zh-CN">
              <a:cs typeface="Times New Roman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025FDB7-9865-A692-6072-D154964FC5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32335E-8FC0-D1DA-FB46-75BD580969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46813"/>
            <a:ext cx="2670175" cy="365125"/>
          </a:xfrm>
        </p:spPr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18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187480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C6E1A-2B7E-27C1-37C7-CE9FB2803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04125-137A-A374-AC6D-0420330E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Microsoft YaHei UI"/>
                <a:ea typeface="Microsoft YaHei UI"/>
                <a:cs typeface="Times New Roman"/>
              </a:rPr>
              <a:t>Three </a:t>
            </a:r>
            <a:r>
              <a:rPr lang="en-US" altLang="zh-CN" b="0">
                <a:latin typeface="Microsoft YaHei UI"/>
                <a:ea typeface="Microsoft YaHei UI"/>
                <a:cs typeface="Times New Roman"/>
              </a:rPr>
              <a:t>Modeling</a:t>
            </a:r>
            <a:r>
              <a:rPr lang="en-US" b="0">
                <a:latin typeface="Microsoft YaHei UI"/>
                <a:ea typeface="Microsoft YaHei UI"/>
                <a:cs typeface="Times New Roman"/>
              </a:rPr>
              <a:t> Options</a:t>
            </a:r>
            <a:endParaRPr 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B3A4A8-7C04-3AF5-965D-201A6622C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19</a:t>
            </a:fld>
            <a:endParaRPr lang="zh-CN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6B25E14D-80A6-5B0A-A093-F8238346E464}"/>
              </a:ext>
            </a:extLst>
          </p:cNvPr>
          <p:cNvSpPr txBox="1">
            <a:spLocks/>
          </p:cNvSpPr>
          <p:nvPr/>
        </p:nvSpPr>
        <p:spPr>
          <a:xfrm>
            <a:off x="893762" y="246253"/>
            <a:ext cx="10404475" cy="6370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>
                <a:latin typeface="Times New Roman"/>
                <a:ea typeface="Microsoft YaHei UI"/>
                <a:cs typeface="Times New Roman"/>
              </a:rPr>
              <a:t>Discussion &amp; Conclusion</a:t>
            </a:r>
            <a:endParaRPr lang="zh-CN">
              <a:latin typeface="Times New Roman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AF895CFF-A7E1-6C93-C73B-03FC2B40938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zh-CN" sz="2400">
              <a:latin typeface="Times New Roman"/>
              <a:ea typeface="Microsoft YaHei UI Light"/>
              <a:cs typeface="Times New Roman"/>
            </a:endParaRPr>
          </a:p>
          <a:p>
            <a:endParaRPr lang="zh-CN" altLang="en-US"/>
          </a:p>
        </p:txBody>
      </p:sp>
      <p:sp>
        <p:nvSpPr>
          <p:cNvPr id="5" name="内容占位符 6">
            <a:extLst>
              <a:ext uri="{FF2B5EF4-FFF2-40B4-BE49-F238E27FC236}">
                <a16:creationId xmlns:a16="http://schemas.microsoft.com/office/drawing/2014/main" id="{2BA719DE-11A8-FBBE-D3F5-DFDE56BB409B}"/>
              </a:ext>
            </a:extLst>
          </p:cNvPr>
          <p:cNvSpPr txBox="1">
            <a:spLocks/>
          </p:cNvSpPr>
          <p:nvPr/>
        </p:nvSpPr>
        <p:spPr>
          <a:xfrm>
            <a:off x="1063752" y="2195829"/>
            <a:ext cx="10405174" cy="39254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zh-CN"/>
            </a:defPPr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f-ZA" sz="2400">
                <a:latin typeface="Times New Roman"/>
                <a:ea typeface="Microsoft YaHei UI Light"/>
                <a:cs typeface="Times New Roman"/>
              </a:rPr>
              <a:t>Pure physics model: interpretable and physically consistent, but accuracy drops if kinetics/parameters are wrong.</a:t>
            </a:r>
            <a:endParaRPr lang="af-ZA" altLang="en-US" sz="2400">
              <a:latin typeface="Times New Roman"/>
              <a:cs typeface="Times New Roman"/>
            </a:endParaRPr>
          </a:p>
          <a:p>
            <a:r>
              <a:rPr lang="af-ZA" sz="2400">
                <a:latin typeface="Times New Roman"/>
                <a:ea typeface="Microsoft YaHei UI Light"/>
                <a:cs typeface="Times New Roman"/>
              </a:rPr>
              <a:t>Pure NN (data-driven): best accuracy when data are sufficient, but can overfit and may violate physics.</a:t>
            </a:r>
            <a:endParaRPr lang="af-ZA">
              <a:latin typeface="Times New Roman"/>
              <a:cs typeface="Times New Roman"/>
            </a:endParaRPr>
          </a:p>
          <a:p>
            <a:r>
              <a:rPr lang="af-ZA" sz="2400">
                <a:latin typeface="Times New Roman"/>
                <a:ea typeface="Microsoft YaHei UI Light"/>
                <a:cs typeface="Times New Roman"/>
              </a:rPr>
              <a:t>PINN: adds physics as a regularizer → slightly less accurate than pure NN in our runs, but more reliable with limited/noisy data and better physical plausibility.</a:t>
            </a:r>
            <a:endParaRPr lang="af-ZA">
              <a:latin typeface="Times New Roman"/>
              <a:cs typeface="Times New Roman"/>
            </a:endParaRPr>
          </a:p>
          <a:p>
            <a:r>
              <a:rPr lang="af-ZA" sz="2400">
                <a:latin typeface="Times New Roman"/>
                <a:ea typeface="Microsoft YaHei UI Light"/>
                <a:cs typeface="Times New Roman"/>
              </a:rPr>
              <a:t>Takeaway: use pure NN when data are rich; use PINN when data are scarce or you need physically consistent predictions.</a:t>
            </a:r>
            <a:endParaRPr lang="af-ZA">
              <a:latin typeface="Times New Roman"/>
              <a:cs typeface="Times New Roman"/>
            </a:endParaRPr>
          </a:p>
          <a:p>
            <a:endParaRPr lang="af-ZA" sz="2400">
              <a:latin typeface="Times New Roman"/>
              <a:cs typeface="Times New Roman"/>
            </a:endParaRPr>
          </a:p>
          <a:p>
            <a:endParaRPr lang="af-ZA" sz="2400">
              <a:latin typeface="Times New Roman"/>
              <a:ea typeface="Microsoft YaHei UI Light"/>
              <a:cs typeface="Times New Roman"/>
            </a:endParaRPr>
          </a:p>
          <a:p>
            <a:endParaRPr lang="af-ZA" altLang="en-US"/>
          </a:p>
        </p:txBody>
      </p:sp>
    </p:spTree>
    <p:extLst>
      <p:ext uri="{BB962C8B-B14F-4D97-AF65-F5344CB8AC3E}">
        <p14:creationId xmlns:p14="http://schemas.microsoft.com/office/powerpoint/2010/main" val="4021910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en-US" altLang="zh-CN"/>
              <a:t>Thanks!</a:t>
            </a:r>
            <a:endParaRPr lang="zh-CN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9FFE1A-93C0-5EA2-0B2E-A2D5C067A5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E0937-C4E6-149D-D562-4F646E73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00E31313-4025-697E-A110-98E2EC738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6258" y="736600"/>
            <a:ext cx="3016310" cy="2053008"/>
          </a:xfrm>
        </p:spPr>
        <p:txBody>
          <a:bodyPr>
            <a:normAutofit/>
          </a:bodyPr>
          <a:lstStyle/>
          <a:p>
            <a:r>
              <a:rPr lang="en-US" sz="3600" b="0">
                <a:latin typeface="Microsoft YaHei UI"/>
                <a:ea typeface="Microsoft YaHei UI"/>
                <a:cs typeface="Times New Roman"/>
              </a:rPr>
              <a:t>REFERENCES</a:t>
            </a:r>
            <a:endParaRPr lang="zh-CN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AF43454-9453-E5B1-CCA8-59F78DA064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5207E5-B6B5-F19E-F7FB-F41AFA10C6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46813"/>
            <a:ext cx="2670175" cy="365125"/>
          </a:xfrm>
        </p:spPr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21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229308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5E1DD-D91A-3A03-F7A6-7FD69D48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7587B-5A67-503C-53EC-B22A012B3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zh-CN" b="0">
              <a:cs typeface="Times New Roman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02EADE-F9C8-CF0D-847C-2B7B52E1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22</a:t>
            </a:fld>
            <a:endParaRPr lang="zh-CN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B9327D51-D013-976D-F8E2-FFDFACA53A3C}"/>
              </a:ext>
            </a:extLst>
          </p:cNvPr>
          <p:cNvSpPr txBox="1">
            <a:spLocks/>
          </p:cNvSpPr>
          <p:nvPr/>
        </p:nvSpPr>
        <p:spPr>
          <a:xfrm>
            <a:off x="893762" y="246253"/>
            <a:ext cx="10404475" cy="6370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zh-CN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2800" b="1" kern="1200" cap="all" baseline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</a:lstStyle>
          <a:p>
            <a:r>
              <a:rPr lang="en-US" sz="3600" b="0">
                <a:latin typeface="Microsoft YaHei UI"/>
                <a:ea typeface="Microsoft YaHei UI"/>
                <a:cs typeface="Times New Roman"/>
              </a:rPr>
              <a:t>REFERENCES</a:t>
            </a:r>
            <a:endParaRPr lang="zh-CN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2637FD0-7F5D-3006-56FC-655394AEF55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zh-CN" sz="2400">
              <a:latin typeface="Times New Roman"/>
              <a:ea typeface="Microsoft YaHei UI Light"/>
              <a:cs typeface="Times New Roman"/>
            </a:endParaRPr>
          </a:p>
          <a:p>
            <a:endParaRPr lang="zh-CN" altLang="en-US"/>
          </a:p>
        </p:txBody>
      </p:sp>
      <p:sp>
        <p:nvSpPr>
          <p:cNvPr id="5" name="内容占位符 6">
            <a:extLst>
              <a:ext uri="{FF2B5EF4-FFF2-40B4-BE49-F238E27FC236}">
                <a16:creationId xmlns:a16="http://schemas.microsoft.com/office/drawing/2014/main" id="{07928796-17F9-6FD0-05E6-CA77B800F19C}"/>
              </a:ext>
            </a:extLst>
          </p:cNvPr>
          <p:cNvSpPr txBox="1">
            <a:spLocks/>
          </p:cNvSpPr>
          <p:nvPr/>
        </p:nvSpPr>
        <p:spPr>
          <a:xfrm>
            <a:off x="1063752" y="2195829"/>
            <a:ext cx="10405174" cy="39254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zh-CN"/>
            </a:defPPr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af-ZA" sz="2400">
                <a:latin typeface="Times New Roman"/>
                <a:ea typeface="Microsoft YaHei UI Light"/>
                <a:cs typeface="Times New Roman"/>
              </a:rPr>
              <a:t>[1] </a:t>
            </a:r>
            <a:r>
              <a:rPr lang="af-ZA">
                <a:highlight>
                  <a:srgbClr val="FFFFFF"/>
                </a:highlight>
                <a:latin typeface="Times New Roman"/>
                <a:ea typeface="Open Sans"/>
                <a:cs typeface="Times New Roman"/>
              </a:rPr>
              <a:t>Thirugnanasambandam, Monesh kumar et al. “A Physics-Informed Neural Network (PINN) Framework for Generic Bioreactor Modelling.” </a:t>
            </a:r>
            <a:r>
              <a:rPr lang="af-ZA" i="1">
                <a:highlight>
                  <a:srgbClr val="FFFFFF"/>
                </a:highlight>
                <a:latin typeface="Times New Roman"/>
                <a:ea typeface="Open Sans"/>
                <a:cs typeface="Times New Roman"/>
              </a:rPr>
              <a:t>Computers &amp; chemical engineering</a:t>
            </a:r>
            <a:r>
              <a:rPr lang="af-ZA">
                <a:highlight>
                  <a:srgbClr val="FFFFFF"/>
                </a:highlight>
                <a:latin typeface="Times New Roman"/>
                <a:ea typeface="Open Sans"/>
                <a:cs typeface="Times New Roman"/>
              </a:rPr>
              <a:t> 203 (2025): 109354. Print.</a:t>
            </a:r>
            <a:endParaRPr lang="af-ZA">
              <a:latin typeface="Times New Roman"/>
              <a:cs typeface="Times New Roman"/>
            </a:endParaRPr>
          </a:p>
          <a:p>
            <a:endParaRPr lang="af-ZA" sz="2400">
              <a:latin typeface="Times New Roman"/>
              <a:ea typeface="Microsoft YaHei UI Light"/>
              <a:cs typeface="Times New Roman"/>
            </a:endParaRPr>
          </a:p>
          <a:p>
            <a:endParaRPr lang="af-ZA" altLang="en-US"/>
          </a:p>
        </p:txBody>
      </p:sp>
    </p:spTree>
    <p:extLst>
      <p:ext uri="{BB962C8B-B14F-4D97-AF65-F5344CB8AC3E}">
        <p14:creationId xmlns:p14="http://schemas.microsoft.com/office/powerpoint/2010/main" val="492817269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483_TF16411248_Win32.potx" id="{E4FB081F-4F72-4253-ACFF-AB5624E471D7}" vid="{E0A4FE48-E3CE-42DF-817C-B51644F3D263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657438402085418973103D8A70C782" ma:contentTypeVersion="1" ma:contentTypeDescription="Crée un document." ma:contentTypeScope="" ma:versionID="efdb65ea7dd3824831288baba8522559">
  <xsd:schema xmlns:xsd="http://www.w3.org/2001/XMLSchema" xmlns:xs="http://www.w3.org/2001/XMLSchema" xmlns:p="http://schemas.microsoft.com/office/2006/metadata/properties" xmlns:ns3="3b8d35a6-f4c6-4a8a-bd94-99bb12cfcd69" targetNamespace="http://schemas.microsoft.com/office/2006/metadata/properties" ma:root="true" ma:fieldsID="1978befd157fbb22235cb9c9beff99ec" ns3:_="">
    <xsd:import namespace="3b8d35a6-f4c6-4a8a-bd94-99bb12cfcd6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8d35a6-f4c6-4a8a-bd94-99bb12cfcd6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5040CA-20CC-43C6-BC0C-8D8696B6AF89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3b8d35a6-f4c6-4a8a-bd94-99bb12cfcd6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EE5A0C-5EE0-424D-AFB5-84A3B7DFB1A5}">
  <ds:schemaRefs>
    <ds:schemaRef ds:uri="3b8d35a6-f4c6-4a8a-bd94-99bb12cfcd69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{BD6588C0-F7AF-478E-B4D7-D19BF7966BAA}TFb05bf529-a1dc-42d5-b9d6-8a1e9569dd9c10e0f09b_win32-7b0679dacfb4</Template>
  <TotalTime>0</TotalTime>
  <Words>3104</Words>
  <Application>Microsoft Office PowerPoint</Application>
  <PresentationFormat>宽屏</PresentationFormat>
  <Paragraphs>198</Paragraphs>
  <Slides>22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Microsoft YaHei UI</vt:lpstr>
      <vt:lpstr>Microsoft YaHei UI Light</vt:lpstr>
      <vt:lpstr>Arial</vt:lpstr>
      <vt:lpstr>Calibri</vt:lpstr>
      <vt:lpstr>Cambria Math</vt:lpstr>
      <vt:lpstr>Times New Roman</vt:lpstr>
      <vt:lpstr>自定义</vt:lpstr>
      <vt:lpstr>Physics-Informed Neural Network (PINN)</vt:lpstr>
      <vt:lpstr>Back Ground definition</vt:lpstr>
      <vt:lpstr>Traditional Approaches &amp; Limitations </vt:lpstr>
      <vt:lpstr>Introducing PINNs</vt:lpstr>
      <vt:lpstr>Main Idea</vt:lpstr>
      <vt:lpstr>PINN Formulation for Fed-Batch System</vt:lpstr>
      <vt:lpstr>EXPERIMENTAL STUDY</vt:lpstr>
      <vt:lpstr>EXPERIMENTAL STUDY</vt:lpstr>
      <vt:lpstr>Batch level partition</vt:lpstr>
      <vt:lpstr>Initial conditions as inputs</vt:lpstr>
      <vt:lpstr>Training Protocol &amp; Model Selection</vt:lpstr>
      <vt:lpstr>Experimental results</vt:lpstr>
      <vt:lpstr>Results Overview</vt:lpstr>
      <vt:lpstr>Effect of     (Data vs Physics Trade-off)</vt:lpstr>
      <vt:lpstr>Training Convergence</vt:lpstr>
      <vt:lpstr>Training Convergence</vt:lpstr>
      <vt:lpstr>Quantitative Accuracy</vt:lpstr>
      <vt:lpstr>Discussion &amp; Conclusion</vt:lpstr>
      <vt:lpstr>Three Modeling Options</vt:lpstr>
      <vt:lpstr>Thanks!</vt:lpstr>
      <vt:lpstr>REFERENCES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Physics-Informed Neural Network (PINN)</dc:title>
  <dc:creator>ENZO WANG</dc:creator>
  <cp:lastModifiedBy>Zezhong Wang</cp:lastModifiedBy>
  <cp:revision>2</cp:revision>
  <dcterms:created xsi:type="dcterms:W3CDTF">2026-02-06T16:30:22Z</dcterms:created>
  <dcterms:modified xsi:type="dcterms:W3CDTF">2026-10-18T17:04:54Z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0x01010096657438402085418973103D8A70C782</vt:lpwstr>
  </property>
</Properties>
</file>